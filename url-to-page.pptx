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2118664-2540-BBEE-0DCE-43924CC86FB3}">
          <p14:sldIdLst>
            <p14:sldId id="256"/>
          </p14:sldIdLst>
        </p14:section>
        <p14:section name="How it works" id="{13BA4D0B-117B-3547-02DC-AA8FA3ECC9E6}">
          <p14:sldIdLst>
            <p14:sldId id="257"/>
            <p14:sldId id="258"/>
            <p14:sldId id="259"/>
            <p14:sldId id="260"/>
            <p14:sldId id="261"/>
          </p14:sldIdLst>
        </p14:section>
        <p14:section name="Demo and wrap-up" id="{330D399C-7054-70C2-CB24-2B1ECD9BE570}">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4591" autoAdjust="0"/>
  </p:normalViewPr>
  <p:slideViewPr>
    <p:cSldViewPr snapToGrid="0" snapToObjects="1">
      <p:cViewPr varScale="1">
        <p:scale>
          <a:sx n="58" d="100"/>
          <a:sy n="58" d="100"/>
        </p:scale>
        <p:origin x="17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879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you type a URL and, about a second later, a page appears. Today we open that second up. Plan: six steps, then where the page is built, then the CDN, then a live Network-tab demo. Goal: by the end you can explain why the same site loads faster the second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Steps 1-2 happen once per site (and are often skipped when cached). The server's response is just the first HTML file; parsing it reveals more files, so steps 3-5 repeat many times. Step 6 is the browser painting what it has.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 is the phone book. The browser asks its own cache, then the OS, then a recursive resolver, which walks root -&gt; TLD -&gt; authoritative server if it has to. The result comes with a TTL, so it is cached at each layer. First visit: possibly the full chain. Second visit: usually row 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is plain text conversation. Point at: the status line, content-type, cache-control and etag (we will need these for the second-load question), and x-vercel-cache which tells you whether a CDN answered. The HTML body lists CSS, JS and images, and each of those is a new request.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question, three answers: who builds the HTML and when? SSG: at deploy time, so it can be cached everywhere. SSR: per request, so it can be personalised but costs server time. CSR: the browser builds it, so view-source shows an almost empty page. The demo repo has one SSR page and one CSR page so you can compare them in view-source.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CDN is a network of servers near users. Static files get cached there, so most requests never reach the origin. On a MISS the edge fetches from the origin, stores the result, and the next visitor gets a HIT. Dynamic routes run as serverless functions in a region. x-vercel-cache and x-vercel-id in the response headers tell you what happened.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real site (and the demo site once deployed). First pass with cache disabled: show the document row, then the CSS/JS rows it triggers, and the domains. Click the document: Headers tab (cache-control, etag, x-vercel-cache) and Timing tab (DNS, connect, TTFB, download). Then re-enable cache and reload: the Size column changes to disk cache / memory cache and the HTML may be a 304.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question. Each tile removes one step from the journey on slide 2: DNS answer cached, connection reused, fingerprinted assets served from disk cache with zero network, and the HTML revalidated with an ETag so the server answers 304 with no body. The CDN also makes the first load of a new visitor cheaper by serving from the nearest edge. Invite questions, then point to the demo repo.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fr-FR"/>
          </a:p>
        </p:txBody>
      </p:sp>
      <p:sp>
        <p:nvSpPr>
          <p:cNvPr id="3" name="Text 1"/>
          <p:cNvSpPr>
            <a:spLocks noGrp="1"/>
          </p:cNvSpPr>
          <p:nvPr>
            <p:ph type="title" idx="101" hasCustomPrompt="1"/>
          </p:nvPr>
        </p:nvSpPr>
        <p:spPr>
          <a:xfrm>
            <a:off x="548640" y="1417320"/>
            <a:ext cx="7863840" cy="17373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1"/>
          <p:cNvSpPr>
            <a:spLocks noGrp="1"/>
          </p:cNvSpPr>
          <p:nvPr>
            <p:ph type="body" idx="102" hasCustomPrompt="1"/>
          </p:nvPr>
        </p:nvSpPr>
        <p:spPr>
          <a:xfrm>
            <a:off x="548640" y="3337560"/>
            <a:ext cx="7863840" cy="822960"/>
          </a:xfrm>
          <a:prstGeom prst="rect">
            <a:avLst/>
          </a:prstGeom>
          <a:noFill/>
          <a:ln/>
        </p:spPr>
        <p:txBody>
          <a:bodyPr wrap="square" rtlCol="0"/>
          <a:lstStyle>
            <a:lvl1pPr marL="0" indent="0" algn="l">
              <a:buNone/>
              <a:defRPr lang="en-US" sz="1600" dirty="0">
                <a:solidFill>
                  <a:schemeClr val="accent6"/>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fr-FR"/>
          </a:p>
        </p:txBody>
      </p:sp>
      <p:sp>
        <p:nvSpPr>
          <p:cNvPr id="3" name="Text 1"/>
          <p:cNvSpPr>
            <a:spLocks noGrp="1"/>
          </p:cNvSpPr>
          <p:nvPr>
            <p:ph type="title" idx="101" hasCustomPrompt="1"/>
          </p:nvPr>
        </p:nvSpPr>
        <p:spPr>
          <a:xfrm>
            <a:off x="457200" y="320040"/>
            <a:ext cx="82296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3B1C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URL pill"/>
          <p:cNvSpPr txBox="1"/>
          <p:nvPr/>
        </p:nvSpPr>
        <p:spPr>
          <a:xfrm>
            <a:off x="548640" y="594360"/>
            <a:ext cx="4754880" cy="457200"/>
          </a:xfrm>
          <a:prstGeom prst="roundRect">
            <a:avLst>
              <a:gd name="adj" fmla="val 50000"/>
            </a:avLst>
          </a:prstGeom>
          <a:solidFill>
            <a:schemeClr val="bg1">
              <a:alpha val="12000"/>
            </a:schemeClr>
          </a:solidFill>
          <a:ln/>
        </p:spPr>
        <p:txBody>
          <a:bodyPr wrap="square" lIns="0" tIns="2540" rIns="0" bIns="0" rtlCol="0" anchor="ctr"/>
          <a:lstStyle/>
          <a:p>
            <a:pPr marL="0" indent="0">
              <a:buNone/>
            </a:pPr>
            <a:r>
              <a:rPr lang="en-US" sz="1400" dirty="0">
                <a:solidFill>
                  <a:schemeClr val="accent2"/>
                </a:solidFill>
                <a:latin typeface="Courier New" pitchFamily="34" charset="0"/>
                <a:ea typeface="Courier New" pitchFamily="34" charset="-122"/>
                <a:cs typeface="Courier New" pitchFamily="34" charset="-120"/>
              </a:rPr>
              <a:t>https://</a:t>
            </a:r>
            <a:r>
              <a:rPr lang="en-US" sz="1400" dirty="0">
                <a:solidFill>
                  <a:schemeClr val="bg1"/>
                </a:solidFill>
                <a:latin typeface="Courier New" pitchFamily="34" charset="0"/>
                <a:ea typeface="Courier New" pitchFamily="34" charset="-122"/>
                <a:cs typeface="Courier New" pitchFamily="34" charset="-120"/>
              </a:rPr>
              <a:t>Team1-site.vercel.app</a:t>
            </a:r>
            <a:r>
              <a:rPr lang="en-US" sz="1400" dirty="0">
                <a:solidFill>
                  <a:schemeClr val="accent6"/>
                </a:solidFill>
                <a:latin typeface="Courier New" pitchFamily="34" charset="0"/>
                <a:ea typeface="Courier New" pitchFamily="34" charset="-122"/>
                <a:cs typeface="Courier New" pitchFamily="34" charset="-120"/>
              </a:rPr>
              <a:t>  ⏎</a:t>
            </a:r>
            <a:endParaRPr lang="en-US" sz="1400" dirty="0"/>
          </a:p>
        </p:txBody>
      </p:sp>
      <p:sp>
        <p:nvSpPr>
          <p:cNvPr id="3" name="Text 1"/>
          <p:cNvSpPr>
            <a:spLocks noGrp="1"/>
          </p:cNvSpPr>
          <p:nvPr>
            <p:ph type="title" idx="101" hasCustomPrompt="1"/>
          </p:nvPr>
        </p:nvSpPr>
        <p:spPr>
          <a:xfrm>
            <a:off x="548640" y="1417320"/>
            <a:ext cx="7863840" cy="1737360"/>
          </a:xfrm>
          <a:prstGeom prst="rect">
            <a:avLst/>
          </a:prstGeom>
          <a:noFill/>
          <a:ln/>
        </p:spPr>
        <p:txBody>
          <a:bodyPr wrap="square" lIns="0" tIns="0" rIns="0" bIns="0" rtlCol="0" anchor="t"/>
          <a:lstStyle/>
          <a:p>
            <a:pPr marL="0" indent="0" algn="l">
              <a:buNone/>
            </a:pPr>
            <a:r>
              <a:rPr lang="en-US" sz="4000" b="1" dirty="0">
                <a:solidFill>
                  <a:schemeClr val="bg1"/>
                </a:solidFill>
              </a:rPr>
              <a:t>What actually happens between typing a URL and seeing a page?</a:t>
            </a:r>
            <a:endParaRPr lang="en-US" sz="4000" dirty="0"/>
          </a:p>
        </p:txBody>
      </p:sp>
      <p:sp>
        <p:nvSpPr>
          <p:cNvPr id="4" name="Text 1"/>
          <p:cNvSpPr>
            <a:spLocks noGrp="1"/>
          </p:cNvSpPr>
          <p:nvPr>
            <p:ph type="body" idx="102" hasCustomPrompt="1"/>
          </p:nvPr>
        </p:nvSpPr>
        <p:spPr>
          <a:xfrm>
            <a:off x="548640" y="3337560"/>
            <a:ext cx="7863840" cy="822960"/>
          </a:xfrm>
          <a:prstGeom prst="rect">
            <a:avLst/>
          </a:prstGeom>
          <a:noFill/>
          <a:ln/>
        </p:spPr>
        <p:txBody>
          <a:bodyPr wrap="square" lIns="0" tIns="0" rIns="0" bIns="0" rtlCol="0" anchor="t"/>
          <a:lstStyle/>
          <a:p>
            <a:pPr marL="0" indent="0" algn="l">
              <a:buNone/>
            </a:pPr>
            <a:r>
              <a:rPr lang="en-US" sz="1600" dirty="0">
                <a:solidFill>
                  <a:schemeClr val="accent6"/>
                </a:solidFill>
              </a:rPr>
              <a:t>DNS · the request · server vs browser rendering · where a CDN fits</a:t>
            </a:r>
            <a:endParaRPr lang="en-US" sz="1600" dirty="0"/>
          </a:p>
          <a:p>
            <a:pPr marL="0" indent="0" algn="l">
              <a:buNone/>
            </a:pPr>
            <a:r>
              <a:rPr lang="en-US" sz="1600" dirty="0">
                <a:solidFill>
                  <a:schemeClr val="accent6"/>
                </a:solidFill>
              </a:rPr>
              <a:t>Team 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1"/>
                </a:solidFill>
              </a:rPr>
              <a:t>From keystroke to pixels</a:t>
            </a:r>
            <a:endParaRPr lang="en-US" sz="3400" dirty="0"/>
          </a:p>
        </p:txBody>
      </p:sp>
      <p:sp>
        <p:nvSpPr>
          <p:cNvPr id="3" name="Step card 1"/>
          <p:cNvSpPr/>
          <p:nvPr/>
        </p:nvSpPr>
        <p:spPr>
          <a:xfrm>
            <a:off x="457200" y="1280160"/>
            <a:ext cx="1280160" cy="2377440"/>
          </a:xfrm>
          <a:prstGeom prst="roundRect">
            <a:avLst>
              <a:gd name="adj" fmla="val 7143"/>
            </a:avLst>
          </a:prstGeom>
          <a:solidFill>
            <a:schemeClr val="bg2"/>
          </a:solidFill>
          <a:ln/>
        </p:spPr>
        <p:txBody>
          <a:bodyPr/>
          <a:lstStyle/>
          <a:p>
            <a:endParaRPr lang="fr-FR"/>
          </a:p>
        </p:txBody>
      </p:sp>
      <p:sp>
        <p:nvSpPr>
          <p:cNvPr id="4" name="Step number 1"/>
          <p:cNvSpPr txBox="1"/>
          <p:nvPr/>
        </p:nvSpPr>
        <p:spPr>
          <a:xfrm>
            <a:off x="822960" y="146304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Step title 1"/>
          <p:cNvSpPr txBox="1"/>
          <p:nvPr/>
        </p:nvSpPr>
        <p:spPr>
          <a:xfrm>
            <a:off x="548640" y="2194560"/>
            <a:ext cx="1097280" cy="548640"/>
          </a:xfrm>
          <a:prstGeom prst="rect">
            <a:avLst/>
          </a:prstGeom>
          <a:noFill/>
          <a:ln/>
        </p:spPr>
        <p:txBody>
          <a:bodyPr wrap="square" lIns="0" tIns="0" rIns="0" bIns="0" rtlCol="0" anchor="t"/>
          <a:lstStyle/>
          <a:p>
            <a:pPr marL="0" indent="0" algn="ctr">
              <a:buNone/>
            </a:pPr>
            <a:r>
              <a:rPr lang="en-US" sz="1400" b="1" dirty="0">
                <a:solidFill>
                  <a:schemeClr val="tx1"/>
                </a:solidFill>
              </a:rPr>
              <a:t>DNS lookup</a:t>
            </a:r>
            <a:endParaRPr lang="en-US" sz="1400" dirty="0"/>
          </a:p>
        </p:txBody>
      </p:sp>
      <p:sp>
        <p:nvSpPr>
          <p:cNvPr id="6" name="Step text 1"/>
          <p:cNvSpPr txBox="1"/>
          <p:nvPr/>
        </p:nvSpPr>
        <p:spPr>
          <a:xfrm>
            <a:off x="548640" y="2788920"/>
            <a:ext cx="1097280" cy="1097280"/>
          </a:xfrm>
          <a:prstGeom prst="rect">
            <a:avLst/>
          </a:prstGeom>
          <a:noFill/>
          <a:ln/>
        </p:spPr>
        <p:txBody>
          <a:bodyPr wrap="square" lIns="0" tIns="0" rIns="0" bIns="0" rtlCol="0" anchor="t"/>
          <a:lstStyle/>
          <a:p>
            <a:pPr marL="0" indent="0" algn="ctr">
              <a:buNone/>
            </a:pPr>
            <a:r>
              <a:rPr lang="en-US" sz="1200" dirty="0">
                <a:solidFill>
                  <a:schemeClr val="accent3"/>
                </a:solidFill>
              </a:rPr>
              <a:t>Name → IP address</a:t>
            </a:r>
            <a:endParaRPr lang="en-US" sz="1200" dirty="0"/>
          </a:p>
        </p:txBody>
      </p:sp>
      <p:sp>
        <p:nvSpPr>
          <p:cNvPr id="7" name="Step card 2"/>
          <p:cNvSpPr/>
          <p:nvPr/>
        </p:nvSpPr>
        <p:spPr>
          <a:xfrm>
            <a:off x="1847088" y="1280160"/>
            <a:ext cx="1280160" cy="2377440"/>
          </a:xfrm>
          <a:prstGeom prst="roundRect">
            <a:avLst>
              <a:gd name="adj" fmla="val 7143"/>
            </a:avLst>
          </a:prstGeom>
          <a:solidFill>
            <a:schemeClr val="bg2"/>
          </a:solidFill>
          <a:ln/>
        </p:spPr>
        <p:txBody>
          <a:bodyPr/>
          <a:lstStyle/>
          <a:p>
            <a:endParaRPr lang="fr-FR"/>
          </a:p>
        </p:txBody>
      </p:sp>
      <p:sp>
        <p:nvSpPr>
          <p:cNvPr id="8" name="Step number 2"/>
          <p:cNvSpPr txBox="1"/>
          <p:nvPr/>
        </p:nvSpPr>
        <p:spPr>
          <a:xfrm>
            <a:off x="2212848" y="146304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Step title 2"/>
          <p:cNvSpPr txBox="1"/>
          <p:nvPr/>
        </p:nvSpPr>
        <p:spPr>
          <a:xfrm>
            <a:off x="1938528" y="2194560"/>
            <a:ext cx="1097280" cy="548640"/>
          </a:xfrm>
          <a:prstGeom prst="rect">
            <a:avLst/>
          </a:prstGeom>
          <a:noFill/>
          <a:ln/>
        </p:spPr>
        <p:txBody>
          <a:bodyPr wrap="square" lIns="0" tIns="0" rIns="0" bIns="0" rtlCol="0" anchor="t"/>
          <a:lstStyle/>
          <a:p>
            <a:pPr marL="0" indent="0" algn="ctr">
              <a:buNone/>
            </a:pPr>
            <a:r>
              <a:rPr lang="en-US" sz="1400" b="1" dirty="0">
                <a:solidFill>
                  <a:schemeClr val="tx1"/>
                </a:solidFill>
              </a:rPr>
              <a:t>TCP + TLS</a:t>
            </a:r>
            <a:endParaRPr lang="en-US" sz="1400" dirty="0"/>
          </a:p>
        </p:txBody>
      </p:sp>
      <p:sp>
        <p:nvSpPr>
          <p:cNvPr id="10" name="Step text 2"/>
          <p:cNvSpPr txBox="1"/>
          <p:nvPr/>
        </p:nvSpPr>
        <p:spPr>
          <a:xfrm>
            <a:off x="1938528" y="2788920"/>
            <a:ext cx="1097280" cy="1097280"/>
          </a:xfrm>
          <a:prstGeom prst="rect">
            <a:avLst/>
          </a:prstGeom>
          <a:noFill/>
          <a:ln/>
        </p:spPr>
        <p:txBody>
          <a:bodyPr wrap="square" lIns="0" tIns="0" rIns="0" bIns="0" rtlCol="0" anchor="t"/>
          <a:lstStyle/>
          <a:p>
            <a:pPr marL="0" indent="0" algn="ctr">
              <a:buNone/>
            </a:pPr>
            <a:r>
              <a:rPr lang="en-US" sz="1200" dirty="0">
                <a:solidFill>
                  <a:schemeClr val="accent3"/>
                </a:solidFill>
              </a:rPr>
              <a:t>Open a connection and encrypt it</a:t>
            </a:r>
            <a:endParaRPr lang="en-US" sz="1200" dirty="0"/>
          </a:p>
        </p:txBody>
      </p:sp>
      <p:sp>
        <p:nvSpPr>
          <p:cNvPr id="11" name="Step card 3"/>
          <p:cNvSpPr/>
          <p:nvPr/>
        </p:nvSpPr>
        <p:spPr>
          <a:xfrm>
            <a:off x="3236976" y="1280160"/>
            <a:ext cx="1280160" cy="2377440"/>
          </a:xfrm>
          <a:prstGeom prst="roundRect">
            <a:avLst>
              <a:gd name="adj" fmla="val 7143"/>
            </a:avLst>
          </a:prstGeom>
          <a:solidFill>
            <a:schemeClr val="bg2"/>
          </a:solidFill>
          <a:ln/>
        </p:spPr>
        <p:txBody>
          <a:bodyPr/>
          <a:lstStyle/>
          <a:p>
            <a:endParaRPr lang="fr-FR"/>
          </a:p>
        </p:txBody>
      </p:sp>
      <p:sp>
        <p:nvSpPr>
          <p:cNvPr id="12" name="Step number 3"/>
          <p:cNvSpPr txBox="1"/>
          <p:nvPr/>
        </p:nvSpPr>
        <p:spPr>
          <a:xfrm>
            <a:off x="3602736" y="146304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Step title 3"/>
          <p:cNvSpPr txBox="1"/>
          <p:nvPr/>
        </p:nvSpPr>
        <p:spPr>
          <a:xfrm>
            <a:off x="3328416" y="2194560"/>
            <a:ext cx="1097280" cy="548640"/>
          </a:xfrm>
          <a:prstGeom prst="rect">
            <a:avLst/>
          </a:prstGeom>
          <a:noFill/>
          <a:ln/>
        </p:spPr>
        <p:txBody>
          <a:bodyPr wrap="square" lIns="0" tIns="0" rIns="0" bIns="0" rtlCol="0" anchor="t"/>
          <a:lstStyle/>
          <a:p>
            <a:pPr marL="0" indent="0" algn="ctr">
              <a:buNone/>
            </a:pPr>
            <a:r>
              <a:rPr lang="en-US" sz="1400" b="1" dirty="0">
                <a:solidFill>
                  <a:schemeClr val="tx1"/>
                </a:solidFill>
              </a:rPr>
              <a:t>HTTP request</a:t>
            </a:r>
            <a:endParaRPr lang="en-US" sz="1400" dirty="0"/>
          </a:p>
        </p:txBody>
      </p:sp>
      <p:sp>
        <p:nvSpPr>
          <p:cNvPr id="14" name="Step text 3"/>
          <p:cNvSpPr txBox="1"/>
          <p:nvPr/>
        </p:nvSpPr>
        <p:spPr>
          <a:xfrm>
            <a:off x="3328416" y="2788920"/>
            <a:ext cx="1097280" cy="1097280"/>
          </a:xfrm>
          <a:prstGeom prst="rect">
            <a:avLst/>
          </a:prstGeom>
          <a:noFill/>
          <a:ln/>
        </p:spPr>
        <p:txBody>
          <a:bodyPr wrap="square" lIns="0" tIns="0" rIns="0" bIns="0" rtlCol="0" anchor="t"/>
          <a:lstStyle/>
          <a:p>
            <a:pPr marL="0" indent="0" algn="ctr">
              <a:buNone/>
            </a:pPr>
            <a:r>
              <a:rPr lang="en-US" sz="1200" dirty="0">
                <a:solidFill>
                  <a:schemeClr val="accent3"/>
                </a:solidFill>
              </a:rPr>
              <a:t>GET / with headers and cookies</a:t>
            </a:r>
            <a:endParaRPr lang="en-US" sz="1200" dirty="0"/>
          </a:p>
        </p:txBody>
      </p:sp>
      <p:sp>
        <p:nvSpPr>
          <p:cNvPr id="15" name="Step card 4"/>
          <p:cNvSpPr/>
          <p:nvPr/>
        </p:nvSpPr>
        <p:spPr>
          <a:xfrm>
            <a:off x="4626864" y="1280160"/>
            <a:ext cx="1280160" cy="2377440"/>
          </a:xfrm>
          <a:prstGeom prst="roundRect">
            <a:avLst>
              <a:gd name="adj" fmla="val 7143"/>
            </a:avLst>
          </a:prstGeom>
          <a:solidFill>
            <a:schemeClr val="bg2"/>
          </a:solidFill>
          <a:ln/>
        </p:spPr>
        <p:txBody>
          <a:bodyPr/>
          <a:lstStyle/>
          <a:p>
            <a:endParaRPr lang="fr-FR"/>
          </a:p>
        </p:txBody>
      </p:sp>
      <p:sp>
        <p:nvSpPr>
          <p:cNvPr id="16" name="Step number 4"/>
          <p:cNvSpPr txBox="1"/>
          <p:nvPr/>
        </p:nvSpPr>
        <p:spPr>
          <a:xfrm>
            <a:off x="4992624" y="1463040"/>
            <a:ext cx="548640" cy="54864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7" name="Step title 4"/>
          <p:cNvSpPr txBox="1"/>
          <p:nvPr/>
        </p:nvSpPr>
        <p:spPr>
          <a:xfrm>
            <a:off x="4718304" y="2194560"/>
            <a:ext cx="1097280" cy="548640"/>
          </a:xfrm>
          <a:prstGeom prst="rect">
            <a:avLst/>
          </a:prstGeom>
          <a:noFill/>
          <a:ln/>
        </p:spPr>
        <p:txBody>
          <a:bodyPr wrap="square" lIns="0" tIns="0" rIns="0" bIns="0" rtlCol="0" anchor="t"/>
          <a:lstStyle/>
          <a:p>
            <a:pPr marL="0" indent="0" algn="ctr">
              <a:buNone/>
            </a:pPr>
            <a:r>
              <a:rPr lang="en-US" sz="1400" b="1" dirty="0">
                <a:solidFill>
                  <a:schemeClr val="tx1"/>
                </a:solidFill>
              </a:rPr>
              <a:t>Server response</a:t>
            </a:r>
            <a:endParaRPr lang="en-US" sz="1400" dirty="0"/>
          </a:p>
        </p:txBody>
      </p:sp>
      <p:sp>
        <p:nvSpPr>
          <p:cNvPr id="18" name="Step text 4"/>
          <p:cNvSpPr txBox="1"/>
          <p:nvPr/>
        </p:nvSpPr>
        <p:spPr>
          <a:xfrm>
            <a:off x="4718304" y="2788920"/>
            <a:ext cx="1097280" cy="1097280"/>
          </a:xfrm>
          <a:prstGeom prst="rect">
            <a:avLst/>
          </a:prstGeom>
          <a:noFill/>
          <a:ln/>
        </p:spPr>
        <p:txBody>
          <a:bodyPr wrap="square" lIns="0" tIns="0" rIns="0" bIns="0" rtlCol="0" anchor="t"/>
          <a:lstStyle/>
          <a:p>
            <a:pPr marL="0" indent="0" algn="ctr">
              <a:buNone/>
            </a:pPr>
            <a:r>
              <a:rPr lang="en-US" sz="1200" dirty="0">
                <a:solidFill>
                  <a:schemeClr val="accent3"/>
                </a:solidFill>
              </a:rPr>
              <a:t>Status, headers, HTML body</a:t>
            </a:r>
            <a:endParaRPr lang="en-US" sz="1200" dirty="0"/>
          </a:p>
        </p:txBody>
      </p:sp>
      <p:sp>
        <p:nvSpPr>
          <p:cNvPr id="19" name="Step card 5"/>
          <p:cNvSpPr/>
          <p:nvPr/>
        </p:nvSpPr>
        <p:spPr>
          <a:xfrm>
            <a:off x="6016752" y="1280160"/>
            <a:ext cx="1280160" cy="2377440"/>
          </a:xfrm>
          <a:prstGeom prst="roundRect">
            <a:avLst>
              <a:gd name="adj" fmla="val 7143"/>
            </a:avLst>
          </a:prstGeom>
          <a:solidFill>
            <a:schemeClr val="bg2"/>
          </a:solidFill>
          <a:ln/>
        </p:spPr>
        <p:txBody>
          <a:bodyPr/>
          <a:lstStyle/>
          <a:p>
            <a:endParaRPr lang="fr-FR"/>
          </a:p>
        </p:txBody>
      </p:sp>
      <p:sp>
        <p:nvSpPr>
          <p:cNvPr id="20" name="Step number 5"/>
          <p:cNvSpPr txBox="1"/>
          <p:nvPr/>
        </p:nvSpPr>
        <p:spPr>
          <a:xfrm>
            <a:off x="6382512" y="146304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1" name="Step title 5"/>
          <p:cNvSpPr txBox="1"/>
          <p:nvPr/>
        </p:nvSpPr>
        <p:spPr>
          <a:xfrm>
            <a:off x="6108192" y="2194560"/>
            <a:ext cx="1097280" cy="548640"/>
          </a:xfrm>
          <a:prstGeom prst="rect">
            <a:avLst/>
          </a:prstGeom>
          <a:noFill/>
          <a:ln/>
        </p:spPr>
        <p:txBody>
          <a:bodyPr wrap="square" lIns="0" tIns="0" rIns="0" bIns="0" rtlCol="0" anchor="t"/>
          <a:lstStyle/>
          <a:p>
            <a:pPr marL="0" indent="0" algn="ctr">
              <a:buNone/>
            </a:pPr>
            <a:r>
              <a:rPr lang="en-US" sz="1400" b="1" dirty="0">
                <a:solidFill>
                  <a:schemeClr val="tx1"/>
                </a:solidFill>
              </a:rPr>
              <a:t>Parse + fetch</a:t>
            </a:r>
            <a:endParaRPr lang="en-US" sz="1400" dirty="0"/>
          </a:p>
        </p:txBody>
      </p:sp>
      <p:sp>
        <p:nvSpPr>
          <p:cNvPr id="22" name="Step text 5"/>
          <p:cNvSpPr txBox="1"/>
          <p:nvPr/>
        </p:nvSpPr>
        <p:spPr>
          <a:xfrm>
            <a:off x="6108192" y="2788920"/>
            <a:ext cx="1097280" cy="1097280"/>
          </a:xfrm>
          <a:prstGeom prst="rect">
            <a:avLst/>
          </a:prstGeom>
          <a:noFill/>
          <a:ln/>
        </p:spPr>
        <p:txBody>
          <a:bodyPr wrap="square" lIns="0" tIns="0" rIns="0" bIns="0" rtlCol="0" anchor="t"/>
          <a:lstStyle/>
          <a:p>
            <a:pPr marL="0" indent="0" algn="ctr">
              <a:buNone/>
            </a:pPr>
            <a:r>
              <a:rPr lang="en-US" sz="1200" dirty="0">
                <a:solidFill>
                  <a:schemeClr val="accent3"/>
                </a:solidFill>
              </a:rPr>
              <a:t>Find CSS, JS, images; request each</a:t>
            </a:r>
            <a:endParaRPr lang="en-US" sz="1200" dirty="0"/>
          </a:p>
        </p:txBody>
      </p:sp>
      <p:sp>
        <p:nvSpPr>
          <p:cNvPr id="23" name="Step card 6"/>
          <p:cNvSpPr/>
          <p:nvPr/>
        </p:nvSpPr>
        <p:spPr>
          <a:xfrm>
            <a:off x="7406640" y="1280160"/>
            <a:ext cx="1280160" cy="2377440"/>
          </a:xfrm>
          <a:prstGeom prst="roundRect">
            <a:avLst>
              <a:gd name="adj" fmla="val 7143"/>
            </a:avLst>
          </a:prstGeom>
          <a:solidFill>
            <a:schemeClr val="bg2"/>
          </a:solidFill>
          <a:ln/>
        </p:spPr>
        <p:txBody>
          <a:bodyPr/>
          <a:lstStyle/>
          <a:p>
            <a:endParaRPr lang="fr-FR"/>
          </a:p>
        </p:txBody>
      </p:sp>
      <p:sp>
        <p:nvSpPr>
          <p:cNvPr id="24" name="Step number 6"/>
          <p:cNvSpPr txBox="1"/>
          <p:nvPr/>
        </p:nvSpPr>
        <p:spPr>
          <a:xfrm>
            <a:off x="7772400" y="146304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5" name="Step title 6"/>
          <p:cNvSpPr txBox="1"/>
          <p:nvPr/>
        </p:nvSpPr>
        <p:spPr>
          <a:xfrm>
            <a:off x="7498080" y="2194560"/>
            <a:ext cx="1097280" cy="548640"/>
          </a:xfrm>
          <a:prstGeom prst="rect">
            <a:avLst/>
          </a:prstGeom>
          <a:noFill/>
          <a:ln/>
        </p:spPr>
        <p:txBody>
          <a:bodyPr wrap="square" lIns="0" tIns="0" rIns="0" bIns="0" rtlCol="0" anchor="t"/>
          <a:lstStyle/>
          <a:p>
            <a:pPr marL="0" indent="0" algn="ctr">
              <a:buNone/>
            </a:pPr>
            <a:r>
              <a:rPr lang="en-US" sz="1400" b="1" dirty="0">
                <a:solidFill>
                  <a:schemeClr val="tx1"/>
                </a:solidFill>
              </a:rPr>
              <a:t>Render</a:t>
            </a:r>
            <a:endParaRPr lang="en-US" sz="1400" dirty="0"/>
          </a:p>
        </p:txBody>
      </p:sp>
      <p:sp>
        <p:nvSpPr>
          <p:cNvPr id="26" name="Step text 6"/>
          <p:cNvSpPr txBox="1"/>
          <p:nvPr/>
        </p:nvSpPr>
        <p:spPr>
          <a:xfrm>
            <a:off x="7498080" y="2788920"/>
            <a:ext cx="1097280" cy="1097280"/>
          </a:xfrm>
          <a:prstGeom prst="rect">
            <a:avLst/>
          </a:prstGeom>
          <a:noFill/>
          <a:ln/>
        </p:spPr>
        <p:txBody>
          <a:bodyPr wrap="square" lIns="0" tIns="0" rIns="0" bIns="0" rtlCol="0" anchor="t"/>
          <a:lstStyle/>
          <a:p>
            <a:pPr marL="0" indent="0" algn="ctr">
              <a:buNone/>
            </a:pPr>
            <a:r>
              <a:rPr lang="en-US" sz="1200" dirty="0">
                <a:solidFill>
                  <a:schemeClr val="accent3"/>
                </a:solidFill>
              </a:rPr>
              <a:t>Build DOM, style, layout, paint</a:t>
            </a:r>
            <a:endParaRPr lang="en-US" sz="1200" dirty="0"/>
          </a:p>
        </p:txBody>
      </p:sp>
      <p:sp>
        <p:nvSpPr>
          <p:cNvPr id="27" name="Takeaway"/>
          <p:cNvSpPr txBox="1"/>
          <p:nvPr/>
        </p:nvSpPr>
        <p:spPr>
          <a:xfrm>
            <a:off x="457200" y="3931920"/>
            <a:ext cx="7498080" cy="365760"/>
          </a:xfrm>
          <a:prstGeom prst="rect">
            <a:avLst/>
          </a:prstGeom>
          <a:noFill/>
          <a:ln/>
        </p:spPr>
        <p:txBody>
          <a:bodyPr wrap="square" lIns="0" tIns="0" rIns="0" bIns="0" rtlCol="0" anchor="ctr"/>
          <a:lstStyle/>
          <a:p>
            <a:pPr marL="0" indent="0">
              <a:buNone/>
            </a:pPr>
            <a:r>
              <a:rPr lang="en-US" sz="1600" b="1" dirty="0">
                <a:solidFill>
                  <a:schemeClr val="accent1"/>
                </a:solidFill>
              </a:rPr>
              <a:t>Steps 3 to 5 repeat for every file the page needs.</a:t>
            </a:r>
            <a:endParaRPr lang="en-US" sz="1600" dirty="0"/>
          </a:p>
        </p:txBody>
      </p:sp>
      <p:sp>
        <p:nvSpPr>
          <p:cNvPr id="2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1"/>
                </a:solidFill>
              </a:rPr>
              <a:t>DNS: names become addresses</a:t>
            </a:r>
            <a:endParaRPr lang="en-US" sz="3400" dirty="0"/>
          </a:p>
        </p:txBody>
      </p:sp>
      <p:sp>
        <p:nvSpPr>
          <p:cNvPr id="3" name="DNS row 1"/>
          <p:cNvSpPr/>
          <p:nvPr/>
        </p:nvSpPr>
        <p:spPr>
          <a:xfrm>
            <a:off x="457200" y="1280160"/>
            <a:ext cx="4297680" cy="530352"/>
          </a:xfrm>
          <a:prstGeom prst="roundRect">
            <a:avLst>
              <a:gd name="adj" fmla="val 17241"/>
            </a:avLst>
          </a:prstGeom>
          <a:solidFill>
            <a:schemeClr val="accent1"/>
          </a:solidFill>
          <a:ln/>
        </p:spPr>
        <p:txBody>
          <a:bodyPr/>
          <a:lstStyle/>
          <a:p>
            <a:endParaRPr lang="fr-FR"/>
          </a:p>
        </p:txBody>
      </p:sp>
      <p:sp>
        <p:nvSpPr>
          <p:cNvPr id="4" name="DNS row text 1"/>
          <p:cNvSpPr txBox="1"/>
          <p:nvPr/>
        </p:nvSpPr>
        <p:spPr>
          <a:xfrm>
            <a:off x="640080" y="1280160"/>
            <a:ext cx="4023360" cy="530352"/>
          </a:xfrm>
          <a:prstGeom prst="rect">
            <a:avLst/>
          </a:prstGeom>
          <a:noFill/>
          <a:ln/>
        </p:spPr>
        <p:txBody>
          <a:bodyPr wrap="square" lIns="0" tIns="0" rIns="0" bIns="0" rtlCol="0" anchor="ctr"/>
          <a:lstStyle/>
          <a:p>
            <a:pPr marL="0" indent="0">
              <a:buNone/>
            </a:pPr>
            <a:r>
              <a:rPr lang="en-US" sz="1400" b="1" dirty="0">
                <a:solidFill>
                  <a:schemeClr val="bg1"/>
                </a:solidFill>
              </a:rPr>
              <a:t>1   Browser cache</a:t>
            </a:r>
            <a:endParaRPr lang="en-US" sz="1400" dirty="0"/>
          </a:p>
        </p:txBody>
      </p:sp>
      <p:sp>
        <p:nvSpPr>
          <p:cNvPr id="5" name="DNS row 2"/>
          <p:cNvSpPr/>
          <p:nvPr/>
        </p:nvSpPr>
        <p:spPr>
          <a:xfrm>
            <a:off x="457200" y="1938528"/>
            <a:ext cx="4297680" cy="530352"/>
          </a:xfrm>
          <a:prstGeom prst="roundRect">
            <a:avLst>
              <a:gd name="adj" fmla="val 17241"/>
            </a:avLst>
          </a:prstGeom>
          <a:solidFill>
            <a:schemeClr val="accent1"/>
          </a:solidFill>
          <a:ln/>
        </p:spPr>
        <p:txBody>
          <a:bodyPr/>
          <a:lstStyle/>
          <a:p>
            <a:endParaRPr lang="fr-FR"/>
          </a:p>
        </p:txBody>
      </p:sp>
      <p:sp>
        <p:nvSpPr>
          <p:cNvPr id="6" name="DNS row text 2"/>
          <p:cNvSpPr txBox="1"/>
          <p:nvPr/>
        </p:nvSpPr>
        <p:spPr>
          <a:xfrm>
            <a:off x="640080" y="1938528"/>
            <a:ext cx="4023360" cy="530352"/>
          </a:xfrm>
          <a:prstGeom prst="rect">
            <a:avLst/>
          </a:prstGeom>
          <a:noFill/>
          <a:ln/>
        </p:spPr>
        <p:txBody>
          <a:bodyPr wrap="square" lIns="0" tIns="0" rIns="0" bIns="0" rtlCol="0" anchor="ctr"/>
          <a:lstStyle/>
          <a:p>
            <a:pPr marL="0" indent="0">
              <a:buNone/>
            </a:pPr>
            <a:r>
              <a:rPr lang="en-US" sz="1400" b="1" dirty="0">
                <a:solidFill>
                  <a:schemeClr val="bg1"/>
                </a:solidFill>
              </a:rPr>
              <a:t>2   Operating system cache</a:t>
            </a:r>
            <a:endParaRPr lang="en-US" sz="1400" dirty="0"/>
          </a:p>
        </p:txBody>
      </p:sp>
      <p:sp>
        <p:nvSpPr>
          <p:cNvPr id="7" name="DNS row 3"/>
          <p:cNvSpPr/>
          <p:nvPr/>
        </p:nvSpPr>
        <p:spPr>
          <a:xfrm>
            <a:off x="457200" y="2596896"/>
            <a:ext cx="4297680" cy="530352"/>
          </a:xfrm>
          <a:prstGeom prst="roundRect">
            <a:avLst>
              <a:gd name="adj" fmla="val 17241"/>
            </a:avLst>
          </a:prstGeom>
          <a:solidFill>
            <a:schemeClr val="bg2"/>
          </a:solidFill>
          <a:ln/>
        </p:spPr>
        <p:txBody>
          <a:bodyPr/>
          <a:lstStyle/>
          <a:p>
            <a:endParaRPr lang="fr-FR"/>
          </a:p>
        </p:txBody>
      </p:sp>
      <p:sp>
        <p:nvSpPr>
          <p:cNvPr id="8" name="DNS row text 3"/>
          <p:cNvSpPr txBox="1"/>
          <p:nvPr/>
        </p:nvSpPr>
        <p:spPr>
          <a:xfrm>
            <a:off x="640080" y="2596896"/>
            <a:ext cx="4023360" cy="530352"/>
          </a:xfrm>
          <a:prstGeom prst="rect">
            <a:avLst/>
          </a:prstGeom>
          <a:noFill/>
          <a:ln/>
        </p:spPr>
        <p:txBody>
          <a:bodyPr wrap="square" lIns="0" tIns="0" rIns="0" bIns="0" rtlCol="0" anchor="ctr"/>
          <a:lstStyle/>
          <a:p>
            <a:pPr marL="0" indent="0">
              <a:buNone/>
            </a:pPr>
            <a:r>
              <a:rPr lang="en-US" sz="1400" dirty="0">
                <a:solidFill>
                  <a:schemeClr val="tx1"/>
                </a:solidFill>
              </a:rPr>
              <a:t>3   Recursive resolver (ISP, 1.1.1.1)</a:t>
            </a:r>
            <a:endParaRPr lang="en-US" sz="1400" dirty="0"/>
          </a:p>
        </p:txBody>
      </p:sp>
      <p:sp>
        <p:nvSpPr>
          <p:cNvPr id="9" name="DNS row 4"/>
          <p:cNvSpPr/>
          <p:nvPr/>
        </p:nvSpPr>
        <p:spPr>
          <a:xfrm>
            <a:off x="457200" y="3255264"/>
            <a:ext cx="4297680" cy="530352"/>
          </a:xfrm>
          <a:prstGeom prst="roundRect">
            <a:avLst>
              <a:gd name="adj" fmla="val 17241"/>
            </a:avLst>
          </a:prstGeom>
          <a:solidFill>
            <a:schemeClr val="bg2"/>
          </a:solidFill>
          <a:ln/>
        </p:spPr>
        <p:txBody>
          <a:bodyPr/>
          <a:lstStyle/>
          <a:p>
            <a:endParaRPr lang="fr-FR"/>
          </a:p>
        </p:txBody>
      </p:sp>
      <p:sp>
        <p:nvSpPr>
          <p:cNvPr id="10" name="DNS row text 4"/>
          <p:cNvSpPr txBox="1"/>
          <p:nvPr/>
        </p:nvSpPr>
        <p:spPr>
          <a:xfrm>
            <a:off x="640080" y="3255264"/>
            <a:ext cx="4023360" cy="530352"/>
          </a:xfrm>
          <a:prstGeom prst="rect">
            <a:avLst/>
          </a:prstGeom>
          <a:noFill/>
          <a:ln/>
        </p:spPr>
        <p:txBody>
          <a:bodyPr wrap="square" lIns="0" tIns="0" rIns="0" bIns="0" rtlCol="0" anchor="ctr"/>
          <a:lstStyle/>
          <a:p>
            <a:pPr marL="0" indent="0">
              <a:buNone/>
            </a:pPr>
            <a:r>
              <a:rPr lang="en-US" sz="1400" dirty="0">
                <a:solidFill>
                  <a:schemeClr val="tx1"/>
                </a:solidFill>
              </a:rPr>
              <a:t>4   Root, then .com (TLD) servers</a:t>
            </a:r>
            <a:endParaRPr lang="en-US" sz="1400" dirty="0"/>
          </a:p>
        </p:txBody>
      </p:sp>
      <p:sp>
        <p:nvSpPr>
          <p:cNvPr id="11" name="DNS row 5"/>
          <p:cNvSpPr/>
          <p:nvPr/>
        </p:nvSpPr>
        <p:spPr>
          <a:xfrm>
            <a:off x="457200" y="3913632"/>
            <a:ext cx="4297680" cy="530352"/>
          </a:xfrm>
          <a:prstGeom prst="roundRect">
            <a:avLst>
              <a:gd name="adj" fmla="val 17241"/>
            </a:avLst>
          </a:prstGeom>
          <a:solidFill>
            <a:schemeClr val="bg2"/>
          </a:solidFill>
          <a:ln/>
        </p:spPr>
        <p:txBody>
          <a:bodyPr/>
          <a:lstStyle/>
          <a:p>
            <a:endParaRPr lang="fr-FR"/>
          </a:p>
        </p:txBody>
      </p:sp>
      <p:sp>
        <p:nvSpPr>
          <p:cNvPr id="12" name="DNS row text 5"/>
          <p:cNvSpPr txBox="1"/>
          <p:nvPr/>
        </p:nvSpPr>
        <p:spPr>
          <a:xfrm>
            <a:off x="640080" y="3913632"/>
            <a:ext cx="4023360" cy="530352"/>
          </a:xfrm>
          <a:prstGeom prst="rect">
            <a:avLst/>
          </a:prstGeom>
          <a:noFill/>
          <a:ln/>
        </p:spPr>
        <p:txBody>
          <a:bodyPr wrap="square" lIns="0" tIns="0" rIns="0" bIns="0" rtlCol="0" anchor="ctr"/>
          <a:lstStyle/>
          <a:p>
            <a:pPr marL="0" indent="0">
              <a:buNone/>
            </a:pPr>
            <a:r>
              <a:rPr lang="en-US" sz="1400" dirty="0">
                <a:solidFill>
                  <a:schemeClr val="tx1"/>
                </a:solidFill>
              </a:rPr>
              <a:t>5   Authoritative name server</a:t>
            </a:r>
            <a:endParaRPr lang="en-US" sz="1400" dirty="0"/>
          </a:p>
        </p:txBody>
      </p:sp>
      <p:sp>
        <p:nvSpPr>
          <p:cNvPr id="13" name="Dig card"/>
          <p:cNvSpPr/>
          <p:nvPr/>
        </p:nvSpPr>
        <p:spPr>
          <a:xfrm>
            <a:off x="5120640" y="1280160"/>
            <a:ext cx="3566160" cy="1143000"/>
          </a:xfrm>
          <a:prstGeom prst="roundRect">
            <a:avLst>
              <a:gd name="adj" fmla="val 8000"/>
            </a:avLst>
          </a:prstGeom>
          <a:solidFill>
            <a:schemeClr val="tx1"/>
          </a:solidFill>
          <a:ln/>
        </p:spPr>
        <p:txBody>
          <a:bodyPr/>
          <a:lstStyle/>
          <a:p>
            <a:endParaRPr lang="fr-FR"/>
          </a:p>
        </p:txBody>
      </p:sp>
      <p:sp>
        <p:nvSpPr>
          <p:cNvPr id="14" name="Dig output"/>
          <p:cNvSpPr txBox="1"/>
          <p:nvPr/>
        </p:nvSpPr>
        <p:spPr>
          <a:xfrm>
            <a:off x="5303520" y="1280160"/>
            <a:ext cx="3200400" cy="1143000"/>
          </a:xfrm>
          <a:prstGeom prst="rect">
            <a:avLst/>
          </a:prstGeom>
          <a:noFill/>
          <a:ln/>
        </p:spPr>
        <p:txBody>
          <a:bodyPr wrap="square" lIns="0" tIns="0" rIns="0" bIns="0" rtlCol="0" anchor="ctr"/>
          <a:lstStyle/>
          <a:p>
            <a:pPr marL="0" indent="0">
              <a:buNone/>
            </a:pPr>
            <a:r>
              <a:rPr lang="en-US" sz="1400" dirty="0">
                <a:solidFill>
                  <a:schemeClr val="accent6"/>
                </a:solidFill>
                <a:latin typeface="Courier New" pitchFamily="34" charset="0"/>
                <a:ea typeface="Courier New" pitchFamily="34" charset="-122"/>
                <a:cs typeface="Courier New" pitchFamily="34" charset="-120"/>
              </a:rPr>
              <a:t>$ dig +short yoursite.com</a:t>
            </a:r>
            <a:endParaRPr lang="en-US" sz="1400" dirty="0"/>
          </a:p>
          <a:p>
            <a:pPr marL="0" indent="0">
              <a:buNone/>
            </a:pPr>
            <a:r>
              <a:rPr lang="en-US" sz="1400" b="1" dirty="0">
                <a:solidFill>
                  <a:schemeClr val="accent2"/>
                </a:solidFill>
                <a:latin typeface="Courier New" pitchFamily="34" charset="0"/>
                <a:ea typeface="Courier New" pitchFamily="34" charset="-122"/>
                <a:cs typeface="Courier New" pitchFamily="34" charset="-120"/>
              </a:rPr>
              <a:t>76.76.21.21</a:t>
            </a:r>
            <a:endParaRPr lang="en-US" sz="1400" dirty="0"/>
          </a:p>
        </p:txBody>
      </p:sp>
      <p:sp>
        <p:nvSpPr>
          <p:cNvPr id="15" name="DNS points"/>
          <p:cNvSpPr txBox="1"/>
          <p:nvPr/>
        </p:nvSpPr>
        <p:spPr>
          <a:xfrm>
            <a:off x="5120640" y="2697480"/>
            <a:ext cx="35661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Rows 1 and 2 are local: no network at all.</a:t>
            </a:r>
            <a:endParaRPr lang="en-US" sz="1400" dirty="0"/>
          </a:p>
          <a:p>
            <a:pPr marL="342900" indent="-342900">
              <a:spcAft>
                <a:spcPts val="800"/>
              </a:spcAft>
              <a:buSzPct val="100000"/>
              <a:buChar char="•"/>
            </a:pPr>
            <a:r>
              <a:rPr lang="en-US" sz="1400" dirty="0">
                <a:solidFill>
                  <a:schemeClr val="tx1"/>
                </a:solidFill>
              </a:rPr>
              <a:t>Rows 3 to 5 only run on a cold lookup.</a:t>
            </a:r>
            <a:endParaRPr lang="en-US" sz="1400" dirty="0"/>
          </a:p>
          <a:p>
            <a:pPr marL="342900" indent="-342900">
              <a:spcAft>
                <a:spcPts val="800"/>
              </a:spcAft>
              <a:buSzPct val="100000"/>
              <a:buChar char="•"/>
            </a:pPr>
            <a:r>
              <a:rPr lang="en-US" sz="1400" dirty="0">
                <a:solidFill>
                  <a:schemeClr val="tx1"/>
                </a:solidFill>
              </a:rPr>
              <a:t>The answer is cached for its TTL, so most lookups never leave your machine.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1"/>
                </a:solidFill>
              </a:rPr>
              <a:t>One request, one response</a:t>
            </a:r>
            <a:endParaRPr lang="en-US" sz="3400" dirty="0"/>
          </a:p>
        </p:txBody>
      </p:sp>
      <p:sp>
        <p:nvSpPr>
          <p:cNvPr id="3" name="Request card"/>
          <p:cNvSpPr/>
          <p:nvPr/>
        </p:nvSpPr>
        <p:spPr>
          <a:xfrm>
            <a:off x="457200" y="1280160"/>
            <a:ext cx="3977640" cy="2514600"/>
          </a:xfrm>
          <a:prstGeom prst="roundRect">
            <a:avLst>
              <a:gd name="adj" fmla="val 3636"/>
            </a:avLst>
          </a:prstGeom>
          <a:solidFill>
            <a:schemeClr val="bg2"/>
          </a:solidFill>
          <a:ln/>
        </p:spPr>
        <p:txBody>
          <a:bodyPr/>
          <a:lstStyle/>
          <a:p>
            <a:endParaRPr lang="fr-FR"/>
          </a:p>
        </p:txBody>
      </p:sp>
      <p:sp>
        <p:nvSpPr>
          <p:cNvPr id="4" name="Request label"/>
          <p:cNvSpPr txBox="1"/>
          <p:nvPr/>
        </p:nvSpPr>
        <p:spPr>
          <a:xfrm>
            <a:off x="640080" y="1417320"/>
            <a:ext cx="3657600" cy="274320"/>
          </a:xfrm>
          <a:prstGeom prst="rect">
            <a:avLst/>
          </a:prstGeom>
          <a:noFill/>
          <a:ln/>
        </p:spPr>
        <p:txBody>
          <a:bodyPr wrap="square" lIns="0" tIns="0" rIns="0" bIns="0" rtlCol="0" anchor="ctr"/>
          <a:lstStyle/>
          <a:p>
            <a:pPr marL="0" indent="0">
              <a:buNone/>
            </a:pPr>
            <a:r>
              <a:rPr lang="en-US" sz="1200" b="1" dirty="0">
                <a:solidFill>
                  <a:schemeClr val="accent1"/>
                </a:solidFill>
              </a:rPr>
              <a:t>REQUEST (browser → server)</a:t>
            </a:r>
            <a:endParaRPr lang="en-US" sz="1200" dirty="0"/>
          </a:p>
        </p:txBody>
      </p:sp>
      <p:sp>
        <p:nvSpPr>
          <p:cNvPr id="5" name="Request code"/>
          <p:cNvSpPr txBox="1"/>
          <p:nvPr/>
        </p:nvSpPr>
        <p:spPr>
          <a:xfrm>
            <a:off x="640080" y="1828800"/>
            <a:ext cx="3657600" cy="1737360"/>
          </a:xfrm>
          <a:prstGeom prst="rect">
            <a:avLst/>
          </a:prstGeom>
          <a:noFill/>
          <a:ln/>
        </p:spPr>
        <p:txBody>
          <a:bodyPr wrap="square" lIns="0" tIns="0" rIns="0" bIns="0" rtlCol="0" anchor="t"/>
          <a:lstStyle/>
          <a:p>
            <a:pPr marL="0" indent="0">
              <a:spcAft>
                <a:spcPts val="400"/>
              </a:spcAft>
              <a:buNone/>
            </a:pPr>
            <a:r>
              <a:rPr lang="en-US" sz="1200" dirty="0">
                <a:solidFill>
                  <a:schemeClr val="tx1"/>
                </a:solidFill>
                <a:latin typeface="Courier New" pitchFamily="34" charset="0"/>
                <a:ea typeface="Courier New" pitchFamily="34" charset="-122"/>
                <a:cs typeface="Courier New" pitchFamily="34" charset="-120"/>
              </a:rPr>
              <a:t>GET /index.html HTTP/2</a:t>
            </a:r>
            <a:endParaRPr lang="en-US" sz="1200" dirty="0"/>
          </a:p>
          <a:p>
            <a:pPr marL="0" indent="0">
              <a:spcAft>
                <a:spcPts val="400"/>
              </a:spcAft>
              <a:buNone/>
            </a:pPr>
            <a:r>
              <a:rPr lang="en-US" sz="1200" dirty="0">
                <a:solidFill>
                  <a:schemeClr val="tx1"/>
                </a:solidFill>
                <a:latin typeface="Courier New" pitchFamily="34" charset="0"/>
                <a:ea typeface="Courier New" pitchFamily="34" charset="-122"/>
                <a:cs typeface="Courier New" pitchFamily="34" charset="-120"/>
              </a:rPr>
              <a:t>Host: yoursite.com</a:t>
            </a:r>
            <a:endParaRPr lang="en-US" sz="1200" dirty="0"/>
          </a:p>
          <a:p>
            <a:pPr marL="0" indent="0">
              <a:spcAft>
                <a:spcPts val="400"/>
              </a:spcAft>
              <a:buNone/>
            </a:pPr>
            <a:r>
              <a:rPr lang="en-US" sz="1200" dirty="0">
                <a:solidFill>
                  <a:schemeClr val="tx1"/>
                </a:solidFill>
                <a:latin typeface="Courier New" pitchFamily="34" charset="0"/>
                <a:ea typeface="Courier New" pitchFamily="34" charset="-122"/>
                <a:cs typeface="Courier New" pitchFamily="34" charset="-120"/>
              </a:rPr>
              <a:t>Accept: text/html</a:t>
            </a:r>
            <a:endParaRPr lang="en-US" sz="1200" dirty="0"/>
          </a:p>
          <a:p>
            <a:pPr marL="0" indent="0">
              <a:spcAft>
                <a:spcPts val="400"/>
              </a:spcAft>
              <a:buNone/>
            </a:pPr>
            <a:r>
              <a:rPr lang="en-US" sz="1200" dirty="0">
                <a:solidFill>
                  <a:schemeClr val="tx1"/>
                </a:solidFill>
                <a:latin typeface="Courier New" pitchFamily="34" charset="0"/>
                <a:ea typeface="Courier New" pitchFamily="34" charset="-122"/>
                <a:cs typeface="Courier New" pitchFamily="34" charset="-120"/>
              </a:rPr>
              <a:t>Accept-Encoding: br, gzip</a:t>
            </a:r>
            <a:endParaRPr lang="en-US" sz="1200" dirty="0"/>
          </a:p>
          <a:p>
            <a:pPr marL="0" indent="0">
              <a:spcAft>
                <a:spcPts val="400"/>
              </a:spcAft>
              <a:buNone/>
            </a:pPr>
            <a:r>
              <a:rPr lang="en-US" sz="1200" dirty="0">
                <a:solidFill>
                  <a:schemeClr val="tx1"/>
                </a:solidFill>
                <a:latin typeface="Courier New" pitchFamily="34" charset="0"/>
                <a:ea typeface="Courier New" pitchFamily="34" charset="-122"/>
                <a:cs typeface="Courier New" pitchFamily="34" charset="-120"/>
              </a:rPr>
              <a:t>Cookie: session=…</a:t>
            </a:r>
            <a:endParaRPr lang="en-US" sz="1200" dirty="0"/>
          </a:p>
        </p:txBody>
      </p:sp>
      <p:sp>
        <p:nvSpPr>
          <p:cNvPr id="6" name="Response card"/>
          <p:cNvSpPr/>
          <p:nvPr/>
        </p:nvSpPr>
        <p:spPr>
          <a:xfrm>
            <a:off x="4709160" y="1280160"/>
            <a:ext cx="3977640" cy="2514600"/>
          </a:xfrm>
          <a:prstGeom prst="roundRect">
            <a:avLst>
              <a:gd name="adj" fmla="val 3636"/>
            </a:avLst>
          </a:prstGeom>
          <a:solidFill>
            <a:schemeClr val="tx1"/>
          </a:solidFill>
          <a:ln/>
        </p:spPr>
        <p:txBody>
          <a:bodyPr/>
          <a:lstStyle/>
          <a:p>
            <a:endParaRPr lang="fr-FR"/>
          </a:p>
        </p:txBody>
      </p:sp>
      <p:sp>
        <p:nvSpPr>
          <p:cNvPr id="7" name="Response label"/>
          <p:cNvSpPr txBox="1"/>
          <p:nvPr/>
        </p:nvSpPr>
        <p:spPr>
          <a:xfrm>
            <a:off x="4892040" y="1417320"/>
            <a:ext cx="3657600" cy="274320"/>
          </a:xfrm>
          <a:prstGeom prst="rect">
            <a:avLst/>
          </a:prstGeom>
          <a:noFill/>
          <a:ln/>
        </p:spPr>
        <p:txBody>
          <a:bodyPr wrap="square" lIns="0" tIns="0" rIns="0" bIns="0" rtlCol="0" anchor="ctr"/>
          <a:lstStyle/>
          <a:p>
            <a:pPr marL="0" indent="0">
              <a:buNone/>
            </a:pPr>
            <a:r>
              <a:rPr lang="en-US" sz="1200" b="1" dirty="0">
                <a:solidFill>
                  <a:schemeClr val="accent2"/>
                </a:solidFill>
              </a:rPr>
              <a:t>RESPONSE (server → browser)</a:t>
            </a:r>
            <a:endParaRPr lang="en-US" sz="1200" dirty="0"/>
          </a:p>
        </p:txBody>
      </p:sp>
      <p:sp>
        <p:nvSpPr>
          <p:cNvPr id="8" name="Response code"/>
          <p:cNvSpPr txBox="1"/>
          <p:nvPr/>
        </p:nvSpPr>
        <p:spPr>
          <a:xfrm>
            <a:off x="4892040" y="1828800"/>
            <a:ext cx="3657600" cy="1737360"/>
          </a:xfrm>
          <a:prstGeom prst="rect">
            <a:avLst/>
          </a:prstGeom>
          <a:noFill/>
          <a:ln/>
        </p:spPr>
        <p:txBody>
          <a:bodyPr wrap="square" lIns="0" tIns="0" rIns="0" bIns="0" rtlCol="0" anchor="t"/>
          <a:lstStyle/>
          <a:p>
            <a:pPr marL="0" indent="0">
              <a:spcAft>
                <a:spcPts val="400"/>
              </a:spcAft>
              <a:buNone/>
            </a:pPr>
            <a:r>
              <a:rPr lang="en-US" sz="1200" dirty="0">
                <a:solidFill>
                  <a:schemeClr val="bg1"/>
                </a:solidFill>
                <a:latin typeface="Courier New" pitchFamily="34" charset="0"/>
                <a:ea typeface="Courier New" pitchFamily="34" charset="-122"/>
                <a:cs typeface="Courier New" pitchFamily="34" charset="-120"/>
              </a:rPr>
              <a:t>HTTP/2 200</a:t>
            </a:r>
            <a:endParaRPr lang="en-US" sz="1200" dirty="0"/>
          </a:p>
          <a:p>
            <a:pPr marL="0" indent="0">
              <a:spcAft>
                <a:spcPts val="400"/>
              </a:spcAft>
              <a:buNone/>
            </a:pPr>
            <a:r>
              <a:rPr lang="en-US" sz="1200" dirty="0">
                <a:solidFill>
                  <a:schemeClr val="bg1"/>
                </a:solidFill>
                <a:latin typeface="Courier New" pitchFamily="34" charset="0"/>
                <a:ea typeface="Courier New" pitchFamily="34" charset="-122"/>
                <a:cs typeface="Courier New" pitchFamily="34" charset="-120"/>
              </a:rPr>
              <a:t>content-type: text/html</a:t>
            </a:r>
            <a:endParaRPr lang="en-US" sz="1200" dirty="0"/>
          </a:p>
          <a:p>
            <a:pPr marL="0" indent="0">
              <a:spcAft>
                <a:spcPts val="400"/>
              </a:spcAft>
              <a:buNone/>
            </a:pPr>
            <a:r>
              <a:rPr lang="en-US" sz="1200" dirty="0">
                <a:solidFill>
                  <a:schemeClr val="bg1"/>
                </a:solidFill>
                <a:latin typeface="Courier New" pitchFamily="34" charset="0"/>
                <a:ea typeface="Courier New" pitchFamily="34" charset="-122"/>
                <a:cs typeface="Courier New" pitchFamily="34" charset="-120"/>
              </a:rPr>
              <a:t>cache-control: public, max-age=0</a:t>
            </a:r>
            <a:endParaRPr lang="en-US" sz="1200" dirty="0"/>
          </a:p>
          <a:p>
            <a:pPr marL="0" indent="0">
              <a:spcAft>
                <a:spcPts val="400"/>
              </a:spcAft>
              <a:buNone/>
            </a:pPr>
            <a:r>
              <a:rPr lang="en-US" sz="1200" dirty="0">
                <a:solidFill>
                  <a:schemeClr val="bg1"/>
                </a:solidFill>
                <a:latin typeface="Courier New" pitchFamily="34" charset="0"/>
                <a:ea typeface="Courier New" pitchFamily="34" charset="-122"/>
                <a:cs typeface="Courier New" pitchFamily="34" charset="-120"/>
              </a:rPr>
              <a:t>etag: "a1b2c3"</a:t>
            </a:r>
            <a:endParaRPr lang="en-US" sz="1200" dirty="0"/>
          </a:p>
          <a:p>
            <a:pPr marL="0" indent="0">
              <a:spcAft>
                <a:spcPts val="400"/>
              </a:spcAft>
              <a:buNone/>
            </a:pPr>
            <a:r>
              <a:rPr lang="en-US" sz="1200" dirty="0">
                <a:solidFill>
                  <a:schemeClr val="bg1"/>
                </a:solidFill>
                <a:latin typeface="Courier New" pitchFamily="34" charset="0"/>
                <a:ea typeface="Courier New" pitchFamily="34" charset="-122"/>
                <a:cs typeface="Courier New" pitchFamily="34" charset="-120"/>
              </a:rPr>
              <a:t>x-vercel-cache: HIT</a:t>
            </a:r>
            <a:endParaRPr lang="en-US" sz="1200" dirty="0"/>
          </a:p>
          <a:p>
            <a:pPr marL="0" indent="0">
              <a:spcAft>
                <a:spcPts val="400"/>
              </a:spcAft>
              <a:buNone/>
            </a:pPr>
            <a:r>
              <a:rPr lang="en-US" sz="1200" dirty="0">
                <a:solidFill>
                  <a:schemeClr val="accent2"/>
                </a:solidFill>
                <a:latin typeface="Courier New" pitchFamily="34" charset="0"/>
                <a:ea typeface="Courier New" pitchFamily="34" charset="-122"/>
                <a:cs typeface="Courier New" pitchFamily="34" charset="-120"/>
              </a:rPr>
              <a:t>&lt;!doctype html&gt; …</a:t>
            </a:r>
            <a:endParaRPr lang="en-US" sz="1200" dirty="0"/>
          </a:p>
        </p:txBody>
      </p:sp>
      <p:sp>
        <p:nvSpPr>
          <p:cNvPr id="9" name="Takeaway"/>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600" b="1" dirty="0">
                <a:solidFill>
                  <a:schemeClr val="accent1"/>
                </a:solidFill>
              </a:rPr>
              <a:t>The HTML is only the first response. It tells the browser what else to fetch.</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1"/>
                </a:solidFill>
              </a:rPr>
              <a:t>Where is the page built?</a:t>
            </a:r>
            <a:endParaRPr lang="en-US" sz="3400" dirty="0"/>
          </a:p>
        </p:txBody>
      </p:sp>
      <p:sp>
        <p:nvSpPr>
          <p:cNvPr id="3" name="Mode card 1"/>
          <p:cNvSpPr/>
          <p:nvPr/>
        </p:nvSpPr>
        <p:spPr>
          <a:xfrm>
            <a:off x="457200" y="1234440"/>
            <a:ext cx="2560320" cy="2697480"/>
          </a:xfrm>
          <a:prstGeom prst="roundRect">
            <a:avLst>
              <a:gd name="adj" fmla="val 3571"/>
            </a:avLst>
          </a:prstGeom>
          <a:solidFill>
            <a:schemeClr val="bg2"/>
          </a:solidFill>
          <a:ln/>
        </p:spPr>
        <p:txBody>
          <a:bodyPr/>
          <a:lstStyle/>
          <a:p>
            <a:endParaRPr lang="fr-FR"/>
          </a:p>
        </p:txBody>
      </p:sp>
      <p:sp>
        <p:nvSpPr>
          <p:cNvPr id="4" name="Mode title 1"/>
          <p:cNvSpPr txBox="1"/>
          <p:nvPr/>
        </p:nvSpPr>
        <p:spPr>
          <a:xfrm>
            <a:off x="640080" y="1371600"/>
            <a:ext cx="2194560" cy="365760"/>
          </a:xfrm>
          <a:prstGeom prst="rect">
            <a:avLst/>
          </a:prstGeom>
          <a:noFill/>
          <a:ln/>
        </p:spPr>
        <p:txBody>
          <a:bodyPr wrap="square" lIns="0" tIns="0" rIns="0" bIns="0" rtlCol="0" anchor="ctr"/>
          <a:lstStyle/>
          <a:p>
            <a:pPr marL="0" indent="0">
              <a:buNone/>
            </a:pPr>
            <a:r>
              <a:rPr lang="en-US" sz="2000" b="1" dirty="0">
                <a:solidFill>
                  <a:schemeClr val="tx1"/>
                </a:solidFill>
              </a:rPr>
              <a:t>Static (SSG)</a:t>
            </a:r>
            <a:endParaRPr lang="en-US" sz="2000" dirty="0"/>
          </a:p>
        </p:txBody>
      </p:sp>
      <p:sp>
        <p:nvSpPr>
          <p:cNvPr id="5" name="Mode tag 1"/>
          <p:cNvSpPr txBox="1"/>
          <p:nvPr/>
        </p:nvSpPr>
        <p:spPr>
          <a:xfrm>
            <a:off x="640080" y="1828800"/>
            <a:ext cx="1371600" cy="274320"/>
          </a:xfrm>
          <a:prstGeom prst="roundRect">
            <a:avLst>
              <a:gd name="adj" fmla="val 40000"/>
            </a:avLst>
          </a:prstGeom>
          <a:solidFill>
            <a:schemeClr val="tx1"/>
          </a:solidFill>
          <a:ln/>
        </p:spPr>
        <p:txBody>
          <a:bodyPr wrap="square" lIns="0" tIns="0" rIns="0" bIns="0" rtlCol="0" anchor="ctr"/>
          <a:lstStyle/>
          <a:p>
            <a:pPr marL="0" indent="0" algn="ctr">
              <a:buNone/>
            </a:pPr>
            <a:r>
              <a:rPr lang="en-US" sz="1200" b="1" dirty="0">
                <a:solidFill>
                  <a:schemeClr val="bg1"/>
                </a:solidFill>
              </a:rPr>
              <a:t>Build machine</a:t>
            </a:r>
            <a:endParaRPr lang="en-US" sz="1200" dirty="0"/>
          </a:p>
        </p:txBody>
      </p:sp>
      <p:sp>
        <p:nvSpPr>
          <p:cNvPr id="6" name="Mode text 1"/>
          <p:cNvSpPr txBox="1"/>
          <p:nvPr/>
        </p:nvSpPr>
        <p:spPr>
          <a:xfrm>
            <a:off x="640080" y="2286000"/>
            <a:ext cx="2194560" cy="155448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Built once, at deploy time</a:t>
            </a:r>
            <a:endParaRPr lang="en-US" sz="1400" dirty="0"/>
          </a:p>
          <a:p>
            <a:pPr marL="0" indent="0">
              <a:spcAft>
                <a:spcPts val="800"/>
              </a:spcAft>
              <a:buNone/>
            </a:pPr>
            <a:r>
              <a:rPr lang="en-US" sz="1400" dirty="0">
                <a:solidFill>
                  <a:schemeClr val="tx1"/>
                </a:solidFill>
              </a:rPr>
              <a:t>Served as ready-made files from the CDN</a:t>
            </a:r>
            <a:endParaRPr lang="en-US" sz="1400" dirty="0"/>
          </a:p>
          <a:p>
            <a:pPr marL="0" indent="0">
              <a:spcAft>
                <a:spcPts val="800"/>
              </a:spcAft>
              <a:buNone/>
            </a:pPr>
            <a:r>
              <a:rPr lang="en-US" sz="1400" dirty="0">
                <a:solidFill>
                  <a:schemeClr val="tx1"/>
                </a:solidFill>
              </a:rPr>
              <a:t>Fastest, but identical for everyone</a:t>
            </a:r>
            <a:endParaRPr lang="en-US" sz="1400" dirty="0"/>
          </a:p>
        </p:txBody>
      </p:sp>
      <p:sp>
        <p:nvSpPr>
          <p:cNvPr id="7" name="Mode card 2"/>
          <p:cNvSpPr/>
          <p:nvPr/>
        </p:nvSpPr>
        <p:spPr>
          <a:xfrm>
            <a:off x="3291840" y="1234440"/>
            <a:ext cx="2560320" cy="2697480"/>
          </a:xfrm>
          <a:prstGeom prst="roundRect">
            <a:avLst>
              <a:gd name="adj" fmla="val 3571"/>
            </a:avLst>
          </a:prstGeom>
          <a:solidFill>
            <a:schemeClr val="bg2"/>
          </a:solidFill>
          <a:ln/>
        </p:spPr>
        <p:txBody>
          <a:bodyPr/>
          <a:lstStyle/>
          <a:p>
            <a:endParaRPr lang="fr-FR"/>
          </a:p>
        </p:txBody>
      </p:sp>
      <p:sp>
        <p:nvSpPr>
          <p:cNvPr id="8" name="Mode title 2"/>
          <p:cNvSpPr txBox="1"/>
          <p:nvPr/>
        </p:nvSpPr>
        <p:spPr>
          <a:xfrm>
            <a:off x="3474720" y="1371600"/>
            <a:ext cx="2194560" cy="365760"/>
          </a:xfrm>
          <a:prstGeom prst="rect">
            <a:avLst/>
          </a:prstGeom>
          <a:noFill/>
          <a:ln/>
        </p:spPr>
        <p:txBody>
          <a:bodyPr wrap="square" lIns="0" tIns="0" rIns="0" bIns="0" rtlCol="0" anchor="ctr"/>
          <a:lstStyle/>
          <a:p>
            <a:pPr marL="0" indent="0">
              <a:buNone/>
            </a:pPr>
            <a:r>
              <a:rPr lang="en-US" sz="2000" b="1" dirty="0">
                <a:solidFill>
                  <a:schemeClr val="tx1"/>
                </a:solidFill>
              </a:rPr>
              <a:t>Server (SSR)</a:t>
            </a:r>
            <a:endParaRPr lang="en-US" sz="2000" dirty="0"/>
          </a:p>
        </p:txBody>
      </p:sp>
      <p:sp>
        <p:nvSpPr>
          <p:cNvPr id="9" name="Mode tag 2"/>
          <p:cNvSpPr txBox="1"/>
          <p:nvPr/>
        </p:nvSpPr>
        <p:spPr>
          <a:xfrm>
            <a:off x="3474720" y="1828800"/>
            <a:ext cx="1371600" cy="274320"/>
          </a:xfrm>
          <a:prstGeom prst="roundRect">
            <a:avLst>
              <a:gd name="adj" fmla="val 40000"/>
            </a:avLst>
          </a:prstGeom>
          <a:solidFill>
            <a:schemeClr val="tx1"/>
          </a:solidFill>
          <a:ln/>
        </p:spPr>
        <p:txBody>
          <a:bodyPr wrap="square" lIns="0" tIns="0" rIns="0" bIns="0" rtlCol="0" anchor="ctr"/>
          <a:lstStyle/>
          <a:p>
            <a:pPr marL="0" indent="0" algn="ctr">
              <a:buNone/>
            </a:pPr>
            <a:r>
              <a:rPr lang="en-US" sz="1200" b="1" dirty="0">
                <a:solidFill>
                  <a:schemeClr val="bg1"/>
                </a:solidFill>
              </a:rPr>
              <a:t>Server</a:t>
            </a:r>
            <a:endParaRPr lang="en-US" sz="1200" dirty="0"/>
          </a:p>
        </p:txBody>
      </p:sp>
      <p:sp>
        <p:nvSpPr>
          <p:cNvPr id="10" name="Mode text 2"/>
          <p:cNvSpPr txBox="1"/>
          <p:nvPr/>
        </p:nvSpPr>
        <p:spPr>
          <a:xfrm>
            <a:off x="3474720" y="2286000"/>
            <a:ext cx="2194560" cy="155448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Built on every request</a:t>
            </a:r>
            <a:endParaRPr lang="en-US" sz="1400" dirty="0"/>
          </a:p>
          <a:p>
            <a:pPr marL="0" indent="0">
              <a:spcAft>
                <a:spcPts val="800"/>
              </a:spcAft>
              <a:buNone/>
            </a:pPr>
            <a:r>
              <a:rPr lang="en-US" sz="1400" dirty="0">
                <a:solidFill>
                  <a:schemeClr val="tx1"/>
                </a:solidFill>
              </a:rPr>
              <a:t>Server runs code, queries data, sends finished HTML</a:t>
            </a:r>
            <a:endParaRPr lang="en-US" sz="1400" dirty="0"/>
          </a:p>
          <a:p>
            <a:pPr marL="0" indent="0">
              <a:spcAft>
                <a:spcPts val="800"/>
              </a:spcAft>
              <a:buNone/>
            </a:pPr>
            <a:r>
              <a:rPr lang="en-US" sz="1400" dirty="0">
                <a:solidFill>
                  <a:schemeClr val="tx1"/>
                </a:solidFill>
              </a:rPr>
              <a:t>Always fresh, but slower first byte</a:t>
            </a:r>
            <a:endParaRPr lang="en-US" sz="1400" dirty="0"/>
          </a:p>
        </p:txBody>
      </p:sp>
      <p:sp>
        <p:nvSpPr>
          <p:cNvPr id="11" name="Mode card 3"/>
          <p:cNvSpPr/>
          <p:nvPr/>
        </p:nvSpPr>
        <p:spPr>
          <a:xfrm>
            <a:off x="6126480" y="1234440"/>
            <a:ext cx="2560320" cy="2697480"/>
          </a:xfrm>
          <a:prstGeom prst="roundRect">
            <a:avLst>
              <a:gd name="adj" fmla="val 3571"/>
            </a:avLst>
          </a:prstGeom>
          <a:solidFill>
            <a:schemeClr val="bg2"/>
          </a:solidFill>
          <a:ln/>
        </p:spPr>
        <p:txBody>
          <a:bodyPr/>
          <a:lstStyle/>
          <a:p>
            <a:endParaRPr lang="fr-FR"/>
          </a:p>
        </p:txBody>
      </p:sp>
      <p:sp>
        <p:nvSpPr>
          <p:cNvPr id="12" name="Mode title 3"/>
          <p:cNvSpPr txBox="1"/>
          <p:nvPr/>
        </p:nvSpPr>
        <p:spPr>
          <a:xfrm>
            <a:off x="6309360" y="1371600"/>
            <a:ext cx="2194560" cy="365760"/>
          </a:xfrm>
          <a:prstGeom prst="rect">
            <a:avLst/>
          </a:prstGeom>
          <a:noFill/>
          <a:ln/>
        </p:spPr>
        <p:txBody>
          <a:bodyPr wrap="square" lIns="0" tIns="0" rIns="0" bIns="0" rtlCol="0" anchor="ctr"/>
          <a:lstStyle/>
          <a:p>
            <a:pPr marL="0" indent="0">
              <a:buNone/>
            </a:pPr>
            <a:r>
              <a:rPr lang="en-US" sz="2000" b="1" dirty="0">
                <a:solidFill>
                  <a:schemeClr val="tx1"/>
                </a:solidFill>
              </a:rPr>
              <a:t>Browser (CSR)</a:t>
            </a:r>
            <a:endParaRPr lang="en-US" sz="2000" dirty="0"/>
          </a:p>
        </p:txBody>
      </p:sp>
      <p:sp>
        <p:nvSpPr>
          <p:cNvPr id="13" name="Mode tag 3"/>
          <p:cNvSpPr txBox="1"/>
          <p:nvPr/>
        </p:nvSpPr>
        <p:spPr>
          <a:xfrm>
            <a:off x="6309360" y="1828800"/>
            <a:ext cx="1371600" cy="274320"/>
          </a:xfrm>
          <a:prstGeom prst="roundRect">
            <a:avLst>
              <a:gd name="adj" fmla="val 40000"/>
            </a:avLst>
          </a:prstGeom>
          <a:solidFill>
            <a:schemeClr val="tx1"/>
          </a:solidFill>
          <a:ln/>
        </p:spPr>
        <p:txBody>
          <a:bodyPr wrap="square" lIns="0" tIns="0" rIns="0" bIns="0" rtlCol="0" anchor="ctr"/>
          <a:lstStyle/>
          <a:p>
            <a:pPr marL="0" indent="0" algn="ctr">
              <a:buNone/>
            </a:pPr>
            <a:r>
              <a:rPr lang="en-US" sz="1200" b="1" dirty="0">
                <a:solidFill>
                  <a:schemeClr val="bg1"/>
                </a:solidFill>
              </a:rPr>
              <a:t>Browser</a:t>
            </a:r>
            <a:endParaRPr lang="en-US" sz="1200" dirty="0"/>
          </a:p>
        </p:txBody>
      </p:sp>
      <p:sp>
        <p:nvSpPr>
          <p:cNvPr id="14" name="Mode text 3"/>
          <p:cNvSpPr txBox="1"/>
          <p:nvPr/>
        </p:nvSpPr>
        <p:spPr>
          <a:xfrm>
            <a:off x="6309360" y="2286000"/>
            <a:ext cx="2194560" cy="155448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Built by JavaScript on your device</a:t>
            </a:r>
            <a:endParaRPr lang="en-US" sz="1400" dirty="0"/>
          </a:p>
          <a:p>
            <a:pPr marL="0" indent="0">
              <a:spcAft>
                <a:spcPts val="800"/>
              </a:spcAft>
              <a:buNone/>
            </a:pPr>
            <a:r>
              <a:rPr lang="en-US" sz="1400" dirty="0">
                <a:solidFill>
                  <a:schemeClr val="tx1"/>
                </a:solidFill>
              </a:rPr>
              <a:t>Server sends an empty shell plus a JS bundle</a:t>
            </a:r>
            <a:endParaRPr lang="en-US" sz="1400" dirty="0"/>
          </a:p>
          <a:p>
            <a:pPr marL="0" indent="0">
              <a:spcAft>
                <a:spcPts val="800"/>
              </a:spcAft>
              <a:buNone/>
            </a:pPr>
            <a:r>
              <a:rPr lang="en-US" sz="1400" dirty="0">
                <a:solidFill>
                  <a:schemeClr val="tx1"/>
                </a:solidFill>
              </a:rPr>
              <a:t>Fast navigation after, blank screen before</a:t>
            </a:r>
            <a:endParaRPr lang="en-US" sz="1400" dirty="0"/>
          </a:p>
        </p:txBody>
      </p:sp>
      <p:sp>
        <p:nvSpPr>
          <p:cNvPr id="15" name="Takeaway"/>
          <p:cNvSpPr txBox="1"/>
          <p:nvPr/>
        </p:nvSpPr>
        <p:spPr>
          <a:xfrm>
            <a:off x="457200" y="4160520"/>
            <a:ext cx="7498080" cy="274320"/>
          </a:xfrm>
          <a:prstGeom prst="rect">
            <a:avLst/>
          </a:prstGeom>
          <a:noFill/>
          <a:ln/>
        </p:spPr>
        <p:txBody>
          <a:bodyPr wrap="square" lIns="0" tIns="0" rIns="0" bIns="0" rtlCol="0" anchor="ctr"/>
          <a:lstStyle/>
          <a:p>
            <a:pPr marL="0" indent="0">
              <a:buNone/>
            </a:pPr>
            <a:r>
              <a:rPr lang="en-US" sz="1400" i="1" dirty="0">
                <a:solidFill>
                  <a:schemeClr val="accent3"/>
                </a:solidFill>
              </a:rPr>
              <a:t>Modern frameworks (Next.js) mix all three, page by page.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1"/>
                </a:solidFill>
              </a:rPr>
              <a:t>Where a CDN like Vercel fits</a:t>
            </a:r>
            <a:endParaRPr lang="en-US" sz="3400" dirty="0"/>
          </a:p>
        </p:txBody>
      </p:sp>
      <p:sp>
        <p:nvSpPr>
          <p:cNvPr id="3" name="Node 1"/>
          <p:cNvSpPr/>
          <p:nvPr/>
        </p:nvSpPr>
        <p:spPr>
          <a:xfrm>
            <a:off x="457200" y="1280160"/>
            <a:ext cx="2011680" cy="1188720"/>
          </a:xfrm>
          <a:prstGeom prst="roundRect">
            <a:avLst>
              <a:gd name="adj" fmla="val 7692"/>
            </a:avLst>
          </a:prstGeom>
          <a:solidFill>
            <a:schemeClr val="bg2"/>
          </a:solidFill>
          <a:ln/>
        </p:spPr>
        <p:txBody>
          <a:bodyPr/>
          <a:lstStyle/>
          <a:p>
            <a:endParaRPr lang="fr-FR"/>
          </a:p>
        </p:txBody>
      </p:sp>
      <p:sp>
        <p:nvSpPr>
          <p:cNvPr id="4" name="Node title 1"/>
          <p:cNvSpPr txBox="1"/>
          <p:nvPr/>
        </p:nvSpPr>
        <p:spPr>
          <a:xfrm>
            <a:off x="548640" y="1463040"/>
            <a:ext cx="1828800" cy="365760"/>
          </a:xfrm>
          <a:prstGeom prst="rect">
            <a:avLst/>
          </a:prstGeom>
          <a:noFill/>
          <a:ln/>
        </p:spPr>
        <p:txBody>
          <a:bodyPr wrap="square" lIns="0" tIns="0" rIns="0" bIns="0" rtlCol="0" anchor="ctr"/>
          <a:lstStyle/>
          <a:p>
            <a:pPr marL="0" indent="0" algn="ctr">
              <a:buNone/>
            </a:pPr>
            <a:r>
              <a:rPr lang="en-US" sz="1800" b="1" dirty="0">
                <a:solidFill>
                  <a:schemeClr val="tx1"/>
                </a:solidFill>
              </a:rPr>
              <a:t>Your browser</a:t>
            </a:r>
            <a:endParaRPr lang="en-US" sz="1800" dirty="0"/>
          </a:p>
        </p:txBody>
      </p:sp>
      <p:sp>
        <p:nvSpPr>
          <p:cNvPr id="5" name="Node sub 1"/>
          <p:cNvSpPr txBox="1"/>
          <p:nvPr/>
        </p:nvSpPr>
        <p:spPr>
          <a:xfrm>
            <a:off x="548640" y="1874520"/>
            <a:ext cx="1828800" cy="457200"/>
          </a:xfrm>
          <a:prstGeom prst="rect">
            <a:avLst/>
          </a:prstGeom>
          <a:noFill/>
          <a:ln/>
        </p:spPr>
        <p:txBody>
          <a:bodyPr wrap="square" lIns="0" tIns="0" rIns="0" bIns="0" rtlCol="0" anchor="t"/>
          <a:lstStyle/>
          <a:p>
            <a:pPr marL="0" indent="0" algn="ctr">
              <a:buNone/>
            </a:pPr>
            <a:r>
              <a:rPr lang="en-US" sz="1200" dirty="0">
                <a:solidFill>
                  <a:schemeClr val="accent3"/>
                </a:solidFill>
              </a:rPr>
              <a:t>Amsterdam</a:t>
            </a:r>
            <a:endParaRPr lang="en-US" sz="1200" dirty="0"/>
          </a:p>
        </p:txBody>
      </p:sp>
      <p:sp>
        <p:nvSpPr>
          <p:cNvPr id="6" name="Node 2"/>
          <p:cNvSpPr/>
          <p:nvPr/>
        </p:nvSpPr>
        <p:spPr>
          <a:xfrm>
            <a:off x="3566160" y="1280160"/>
            <a:ext cx="2011680" cy="1188720"/>
          </a:xfrm>
          <a:prstGeom prst="roundRect">
            <a:avLst>
              <a:gd name="adj" fmla="val 7692"/>
            </a:avLst>
          </a:prstGeom>
          <a:solidFill>
            <a:schemeClr val="accent1"/>
          </a:solidFill>
          <a:ln/>
        </p:spPr>
        <p:txBody>
          <a:bodyPr/>
          <a:lstStyle/>
          <a:p>
            <a:endParaRPr lang="fr-FR"/>
          </a:p>
        </p:txBody>
      </p:sp>
      <p:sp>
        <p:nvSpPr>
          <p:cNvPr id="7" name="Node title 2"/>
          <p:cNvSpPr txBox="1"/>
          <p:nvPr/>
        </p:nvSpPr>
        <p:spPr>
          <a:xfrm>
            <a:off x="3657600" y="1463040"/>
            <a:ext cx="1828800" cy="365760"/>
          </a:xfrm>
          <a:prstGeom prst="rect">
            <a:avLst/>
          </a:prstGeom>
          <a:noFill/>
          <a:ln/>
        </p:spPr>
        <p:txBody>
          <a:bodyPr wrap="square" lIns="0" tIns="0" rIns="0" bIns="0" rtlCol="0" anchor="ctr"/>
          <a:lstStyle/>
          <a:p>
            <a:pPr marL="0" indent="0" algn="ctr">
              <a:buNone/>
            </a:pPr>
            <a:r>
              <a:rPr lang="en-US" sz="1800" b="1" dirty="0">
                <a:solidFill>
                  <a:schemeClr val="bg1"/>
                </a:solidFill>
              </a:rPr>
              <a:t>Vercel edge</a:t>
            </a:r>
            <a:endParaRPr lang="en-US" sz="1800" dirty="0"/>
          </a:p>
        </p:txBody>
      </p:sp>
      <p:sp>
        <p:nvSpPr>
          <p:cNvPr id="8" name="Node sub 2"/>
          <p:cNvSpPr txBox="1"/>
          <p:nvPr/>
        </p:nvSpPr>
        <p:spPr>
          <a:xfrm>
            <a:off x="3657600" y="1874520"/>
            <a:ext cx="1828800" cy="457200"/>
          </a:xfrm>
          <a:prstGeom prst="rect">
            <a:avLst/>
          </a:prstGeom>
          <a:noFill/>
          <a:ln/>
        </p:spPr>
        <p:txBody>
          <a:bodyPr wrap="square" lIns="0" tIns="0" rIns="0" bIns="0" rtlCol="0" anchor="t"/>
          <a:lstStyle/>
          <a:p>
            <a:pPr marL="0" indent="0" algn="ctr">
              <a:buNone/>
            </a:pPr>
            <a:r>
              <a:rPr lang="en-US" sz="1200" dirty="0">
                <a:solidFill>
                  <a:schemeClr val="bg1"/>
                </a:solidFill>
              </a:rPr>
              <a:t>nearest point of presence</a:t>
            </a:r>
            <a:endParaRPr lang="en-US" sz="1200" dirty="0"/>
          </a:p>
        </p:txBody>
      </p:sp>
      <p:sp>
        <p:nvSpPr>
          <p:cNvPr id="9" name="Node 3"/>
          <p:cNvSpPr/>
          <p:nvPr/>
        </p:nvSpPr>
        <p:spPr>
          <a:xfrm>
            <a:off x="6675120" y="1280160"/>
            <a:ext cx="2011680" cy="1188720"/>
          </a:xfrm>
          <a:prstGeom prst="roundRect">
            <a:avLst>
              <a:gd name="adj" fmla="val 7692"/>
            </a:avLst>
          </a:prstGeom>
          <a:solidFill>
            <a:schemeClr val="bg2"/>
          </a:solidFill>
          <a:ln/>
        </p:spPr>
        <p:txBody>
          <a:bodyPr/>
          <a:lstStyle/>
          <a:p>
            <a:endParaRPr lang="fr-FR"/>
          </a:p>
        </p:txBody>
      </p:sp>
      <p:sp>
        <p:nvSpPr>
          <p:cNvPr id="10" name="Node title 3"/>
          <p:cNvSpPr txBox="1"/>
          <p:nvPr/>
        </p:nvSpPr>
        <p:spPr>
          <a:xfrm>
            <a:off x="6766560" y="1463040"/>
            <a:ext cx="1828800" cy="365760"/>
          </a:xfrm>
          <a:prstGeom prst="rect">
            <a:avLst/>
          </a:prstGeom>
          <a:noFill/>
          <a:ln/>
        </p:spPr>
        <p:txBody>
          <a:bodyPr wrap="square" lIns="0" tIns="0" rIns="0" bIns="0" rtlCol="0" anchor="ctr"/>
          <a:lstStyle/>
          <a:p>
            <a:pPr marL="0" indent="0" algn="ctr">
              <a:buNone/>
            </a:pPr>
            <a:r>
              <a:rPr lang="en-US" sz="1800" b="1" dirty="0">
                <a:solidFill>
                  <a:schemeClr val="tx1"/>
                </a:solidFill>
              </a:rPr>
              <a:t>Origin</a:t>
            </a:r>
            <a:endParaRPr lang="en-US" sz="1800" dirty="0"/>
          </a:p>
        </p:txBody>
      </p:sp>
      <p:sp>
        <p:nvSpPr>
          <p:cNvPr id="11" name="Node sub 3"/>
          <p:cNvSpPr txBox="1"/>
          <p:nvPr/>
        </p:nvSpPr>
        <p:spPr>
          <a:xfrm>
            <a:off x="6766560" y="1874520"/>
            <a:ext cx="1828800" cy="457200"/>
          </a:xfrm>
          <a:prstGeom prst="rect">
            <a:avLst/>
          </a:prstGeom>
          <a:noFill/>
          <a:ln/>
        </p:spPr>
        <p:txBody>
          <a:bodyPr wrap="square" lIns="0" tIns="0" rIns="0" bIns="0" rtlCol="0" anchor="t"/>
          <a:lstStyle/>
          <a:p>
            <a:pPr marL="0" indent="0" algn="ctr">
              <a:buNone/>
            </a:pPr>
            <a:r>
              <a:rPr lang="en-US" sz="1200" dirty="0">
                <a:solidFill>
                  <a:schemeClr val="accent3"/>
                </a:solidFill>
              </a:rPr>
              <a:t>build output · serverless function</a:t>
            </a:r>
            <a:endParaRPr lang="en-US" sz="1200" dirty="0"/>
          </a:p>
        </p:txBody>
      </p:sp>
      <p:sp>
        <p:nvSpPr>
          <p:cNvPr id="12" name="Arrow 1"/>
          <p:cNvSpPr/>
          <p:nvPr/>
        </p:nvSpPr>
        <p:spPr>
          <a:xfrm>
            <a:off x="2514600" y="1874520"/>
            <a:ext cx="1005840" cy="0"/>
          </a:xfrm>
          <a:prstGeom prst="line">
            <a:avLst/>
          </a:prstGeom>
          <a:noFill/>
          <a:ln w="31750">
            <a:solidFill>
              <a:schemeClr val="accent2"/>
            </a:solidFill>
            <a:prstDash val="solid"/>
            <a:headEnd type="triangle"/>
            <a:tailEnd type="triangle"/>
          </a:ln>
        </p:spPr>
        <p:txBody>
          <a:bodyPr/>
          <a:lstStyle/>
          <a:p>
            <a:endParaRPr lang="fr-FR"/>
          </a:p>
        </p:txBody>
      </p:sp>
      <p:sp>
        <p:nvSpPr>
          <p:cNvPr id="13" name="Arrow label 1"/>
          <p:cNvSpPr txBox="1"/>
          <p:nvPr/>
        </p:nvSpPr>
        <p:spPr>
          <a:xfrm>
            <a:off x="2468880" y="1508760"/>
            <a:ext cx="1097280" cy="274320"/>
          </a:xfrm>
          <a:prstGeom prst="rect">
            <a:avLst/>
          </a:prstGeom>
          <a:noFill/>
          <a:ln/>
        </p:spPr>
        <p:txBody>
          <a:bodyPr wrap="square" lIns="0" tIns="0" rIns="0" bIns="0" rtlCol="0" anchor="ctr"/>
          <a:lstStyle/>
          <a:p>
            <a:pPr marL="0" indent="0" algn="ctr">
              <a:buNone/>
            </a:pPr>
            <a:r>
              <a:rPr lang="en-US" sz="1200" dirty="0">
                <a:solidFill>
                  <a:schemeClr val="accent3"/>
                </a:solidFill>
              </a:rPr>
              <a:t>HTTPS request</a:t>
            </a:r>
            <a:endParaRPr lang="en-US" sz="1200" dirty="0"/>
          </a:p>
        </p:txBody>
      </p:sp>
      <p:sp>
        <p:nvSpPr>
          <p:cNvPr id="14" name="Arrow 2"/>
          <p:cNvSpPr/>
          <p:nvPr/>
        </p:nvSpPr>
        <p:spPr>
          <a:xfrm>
            <a:off x="5623560" y="1874520"/>
            <a:ext cx="1005840" cy="0"/>
          </a:xfrm>
          <a:prstGeom prst="line">
            <a:avLst/>
          </a:prstGeom>
          <a:noFill/>
          <a:ln w="31750">
            <a:solidFill>
              <a:schemeClr val="accent2"/>
            </a:solidFill>
            <a:prstDash val="solid"/>
            <a:headEnd type="triangle"/>
            <a:tailEnd type="triangle"/>
          </a:ln>
        </p:spPr>
        <p:txBody>
          <a:bodyPr/>
          <a:lstStyle/>
          <a:p>
            <a:endParaRPr lang="fr-FR"/>
          </a:p>
        </p:txBody>
      </p:sp>
      <p:sp>
        <p:nvSpPr>
          <p:cNvPr id="15" name="Arrow label 2"/>
          <p:cNvSpPr txBox="1"/>
          <p:nvPr/>
        </p:nvSpPr>
        <p:spPr>
          <a:xfrm>
            <a:off x="5577840" y="1508760"/>
            <a:ext cx="1097280" cy="274320"/>
          </a:xfrm>
          <a:prstGeom prst="rect">
            <a:avLst/>
          </a:prstGeom>
          <a:noFill/>
          <a:ln/>
        </p:spPr>
        <p:txBody>
          <a:bodyPr wrap="square" lIns="0" tIns="0" rIns="0" bIns="0" rtlCol="0" anchor="ctr"/>
          <a:lstStyle/>
          <a:p>
            <a:pPr marL="0" indent="0" algn="ctr">
              <a:buNone/>
            </a:pPr>
            <a:r>
              <a:rPr lang="en-US" sz="1200" dirty="0">
                <a:solidFill>
                  <a:schemeClr val="accent3"/>
                </a:solidFill>
              </a:rPr>
              <a:t>only on a MISS</a:t>
            </a:r>
            <a:endParaRPr lang="en-US" sz="1200" dirty="0"/>
          </a:p>
        </p:txBody>
      </p:sp>
      <p:sp>
        <p:nvSpPr>
          <p:cNvPr id="16" name="CDN card 1"/>
          <p:cNvSpPr/>
          <p:nvPr/>
        </p:nvSpPr>
        <p:spPr>
          <a:xfrm>
            <a:off x="457200" y="2834640"/>
            <a:ext cx="2651760" cy="1371600"/>
          </a:xfrm>
          <a:prstGeom prst="roundRect">
            <a:avLst>
              <a:gd name="adj" fmla="val 6667"/>
            </a:avLst>
          </a:prstGeom>
          <a:solidFill>
            <a:schemeClr val="bg2"/>
          </a:solidFill>
          <a:ln/>
        </p:spPr>
        <p:txBody>
          <a:bodyPr/>
          <a:lstStyle/>
          <a:p>
            <a:endParaRPr lang="fr-FR"/>
          </a:p>
        </p:txBody>
      </p:sp>
      <p:sp>
        <p:nvSpPr>
          <p:cNvPr id="17" name="CDN card title 1"/>
          <p:cNvSpPr txBox="1"/>
          <p:nvPr/>
        </p:nvSpPr>
        <p:spPr>
          <a:xfrm>
            <a:off x="640080" y="2971800"/>
            <a:ext cx="2286000" cy="320040"/>
          </a:xfrm>
          <a:prstGeom prst="rect">
            <a:avLst/>
          </a:prstGeom>
          <a:noFill/>
          <a:ln/>
        </p:spPr>
        <p:txBody>
          <a:bodyPr wrap="square" lIns="0" tIns="0" rIns="0" bIns="0" rtlCol="0" anchor="ctr"/>
          <a:lstStyle/>
          <a:p>
            <a:pPr marL="0" indent="0">
              <a:buNone/>
            </a:pPr>
            <a:r>
              <a:rPr lang="en-US" sz="1600" b="1" dirty="0">
                <a:solidFill>
                  <a:schemeClr val="accent1"/>
                </a:solidFill>
              </a:rPr>
              <a:t>Static files</a:t>
            </a:r>
            <a:endParaRPr lang="en-US" sz="1600" dirty="0"/>
          </a:p>
        </p:txBody>
      </p:sp>
      <p:sp>
        <p:nvSpPr>
          <p:cNvPr id="18" name="CDN card text 1"/>
          <p:cNvSpPr txBox="1"/>
          <p:nvPr/>
        </p:nvSpPr>
        <p:spPr>
          <a:xfrm>
            <a:off x="640080" y="3337560"/>
            <a:ext cx="2286000" cy="731520"/>
          </a:xfrm>
          <a:prstGeom prst="rect">
            <a:avLst/>
          </a:prstGeom>
          <a:noFill/>
          <a:ln/>
        </p:spPr>
        <p:txBody>
          <a:bodyPr wrap="square" lIns="0" tIns="0" rIns="0" bIns="0" rtlCol="0" anchor="t"/>
          <a:lstStyle/>
          <a:p>
            <a:pPr marL="0" indent="0">
              <a:buNone/>
            </a:pPr>
            <a:r>
              <a:rPr lang="en-US" sz="1400" dirty="0">
                <a:solidFill>
                  <a:schemeClr val="tx1"/>
                </a:solidFill>
              </a:rPr>
              <a:t>Cached at the edge, close to the user.</a:t>
            </a:r>
            <a:endParaRPr lang="en-US" sz="1400" dirty="0"/>
          </a:p>
        </p:txBody>
      </p:sp>
      <p:sp>
        <p:nvSpPr>
          <p:cNvPr id="19" name="CDN card 2"/>
          <p:cNvSpPr/>
          <p:nvPr/>
        </p:nvSpPr>
        <p:spPr>
          <a:xfrm>
            <a:off x="3246120" y="2834640"/>
            <a:ext cx="2651760" cy="1371600"/>
          </a:xfrm>
          <a:prstGeom prst="roundRect">
            <a:avLst>
              <a:gd name="adj" fmla="val 6667"/>
            </a:avLst>
          </a:prstGeom>
          <a:solidFill>
            <a:schemeClr val="bg2"/>
          </a:solidFill>
          <a:ln/>
        </p:spPr>
        <p:txBody>
          <a:bodyPr/>
          <a:lstStyle/>
          <a:p>
            <a:endParaRPr lang="fr-FR"/>
          </a:p>
        </p:txBody>
      </p:sp>
      <p:sp>
        <p:nvSpPr>
          <p:cNvPr id="20" name="CDN card title 2"/>
          <p:cNvSpPr txBox="1"/>
          <p:nvPr/>
        </p:nvSpPr>
        <p:spPr>
          <a:xfrm>
            <a:off x="3429000" y="2971800"/>
            <a:ext cx="2286000" cy="320040"/>
          </a:xfrm>
          <a:prstGeom prst="rect">
            <a:avLst/>
          </a:prstGeom>
          <a:noFill/>
          <a:ln/>
        </p:spPr>
        <p:txBody>
          <a:bodyPr wrap="square" lIns="0" tIns="0" rIns="0" bIns="0" rtlCol="0" anchor="ctr"/>
          <a:lstStyle/>
          <a:p>
            <a:pPr marL="0" indent="0">
              <a:buNone/>
            </a:pPr>
            <a:r>
              <a:rPr lang="en-US" sz="1600" b="1" dirty="0">
                <a:solidFill>
                  <a:schemeClr val="accent1"/>
                </a:solidFill>
              </a:rPr>
              <a:t>Dynamic routes</a:t>
            </a:r>
            <a:endParaRPr lang="en-US" sz="1600" dirty="0"/>
          </a:p>
        </p:txBody>
      </p:sp>
      <p:sp>
        <p:nvSpPr>
          <p:cNvPr id="21" name="CDN card text 2"/>
          <p:cNvSpPr txBox="1"/>
          <p:nvPr/>
        </p:nvSpPr>
        <p:spPr>
          <a:xfrm>
            <a:off x="3429000" y="3337560"/>
            <a:ext cx="2286000" cy="731520"/>
          </a:xfrm>
          <a:prstGeom prst="rect">
            <a:avLst/>
          </a:prstGeom>
          <a:noFill/>
          <a:ln/>
        </p:spPr>
        <p:txBody>
          <a:bodyPr wrap="square" lIns="0" tIns="0" rIns="0" bIns="0" rtlCol="0" anchor="t"/>
          <a:lstStyle/>
          <a:p>
            <a:pPr marL="0" indent="0">
              <a:buNone/>
            </a:pPr>
            <a:r>
              <a:rPr lang="en-US" sz="1400" dirty="0">
                <a:solidFill>
                  <a:schemeClr val="tx1"/>
                </a:solidFill>
              </a:rPr>
              <a:t>Forwarded to a function in one region.</a:t>
            </a:r>
            <a:endParaRPr lang="en-US" sz="1400" dirty="0"/>
          </a:p>
        </p:txBody>
      </p:sp>
      <p:sp>
        <p:nvSpPr>
          <p:cNvPr id="22" name="CDN card 3"/>
          <p:cNvSpPr/>
          <p:nvPr/>
        </p:nvSpPr>
        <p:spPr>
          <a:xfrm>
            <a:off x="6035040" y="2834640"/>
            <a:ext cx="2651760" cy="1371600"/>
          </a:xfrm>
          <a:prstGeom prst="roundRect">
            <a:avLst>
              <a:gd name="adj" fmla="val 6667"/>
            </a:avLst>
          </a:prstGeom>
          <a:solidFill>
            <a:schemeClr val="bg2"/>
          </a:solidFill>
          <a:ln/>
        </p:spPr>
        <p:txBody>
          <a:bodyPr/>
          <a:lstStyle/>
          <a:p>
            <a:endParaRPr lang="fr-FR"/>
          </a:p>
        </p:txBody>
      </p:sp>
      <p:sp>
        <p:nvSpPr>
          <p:cNvPr id="23" name="CDN card title 3"/>
          <p:cNvSpPr txBox="1"/>
          <p:nvPr/>
        </p:nvSpPr>
        <p:spPr>
          <a:xfrm>
            <a:off x="6217920" y="2971800"/>
            <a:ext cx="2286000" cy="320040"/>
          </a:xfrm>
          <a:prstGeom prst="rect">
            <a:avLst/>
          </a:prstGeom>
          <a:noFill/>
          <a:ln/>
        </p:spPr>
        <p:txBody>
          <a:bodyPr wrap="square" lIns="0" tIns="0" rIns="0" bIns="0" rtlCol="0" anchor="ctr"/>
          <a:lstStyle/>
          <a:p>
            <a:pPr marL="0" indent="0">
              <a:buNone/>
            </a:pPr>
            <a:r>
              <a:rPr lang="en-US" sz="1600" b="1" dirty="0">
                <a:solidFill>
                  <a:schemeClr val="accent1"/>
                </a:solidFill>
              </a:rPr>
              <a:t>Read the headers</a:t>
            </a:r>
            <a:endParaRPr lang="en-US" sz="1600" dirty="0"/>
          </a:p>
        </p:txBody>
      </p:sp>
      <p:sp>
        <p:nvSpPr>
          <p:cNvPr id="24" name="CDN card text 3"/>
          <p:cNvSpPr txBox="1"/>
          <p:nvPr/>
        </p:nvSpPr>
        <p:spPr>
          <a:xfrm>
            <a:off x="6217920" y="3337560"/>
            <a:ext cx="2286000" cy="731520"/>
          </a:xfrm>
          <a:prstGeom prst="rect">
            <a:avLst/>
          </a:prstGeom>
          <a:noFill/>
          <a:ln/>
        </p:spPr>
        <p:txBody>
          <a:bodyPr wrap="square" lIns="0" tIns="0" rIns="0" bIns="0" rtlCol="0" anchor="t"/>
          <a:lstStyle/>
          <a:p>
            <a:pPr marL="0" indent="0">
              <a:buNone/>
            </a:pPr>
            <a:r>
              <a:rPr lang="en-US" sz="1400" dirty="0">
                <a:solidFill>
                  <a:schemeClr val="tx1"/>
                </a:solidFill>
              </a:rPr>
              <a:t>x-vercel-cache: HIT, MISS or STALE.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1"/>
                </a:solidFill>
              </a:rPr>
              <a:t>Live demo: the Network tab</a:t>
            </a:r>
            <a:endParaRPr lang="en-US" sz="3400" dirty="0"/>
          </a:p>
        </p:txBody>
      </p:sp>
      <p:sp>
        <p:nvSpPr>
          <p:cNvPr id="3" name="Demo number 1"/>
          <p:cNvSpPr txBox="1"/>
          <p:nvPr/>
        </p:nvSpPr>
        <p:spPr>
          <a:xfrm>
            <a:off x="457200" y="128016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4" name="Demo step 1"/>
          <p:cNvSpPr txBox="1"/>
          <p:nvPr/>
        </p:nvSpPr>
        <p:spPr>
          <a:xfrm>
            <a:off x="1051560" y="1280160"/>
            <a:ext cx="3931920" cy="411480"/>
          </a:xfrm>
          <a:prstGeom prst="rect">
            <a:avLst/>
          </a:prstGeom>
          <a:noFill/>
          <a:ln/>
        </p:spPr>
        <p:txBody>
          <a:bodyPr wrap="square" lIns="0" tIns="0" rIns="0" bIns="0" rtlCol="0" anchor="ctr"/>
          <a:lstStyle/>
          <a:p>
            <a:pPr marL="0" indent="0">
              <a:buNone/>
            </a:pPr>
            <a:r>
              <a:rPr lang="en-US" sz="1400" dirty="0">
                <a:solidFill>
                  <a:schemeClr val="tx1"/>
                </a:solidFill>
              </a:rPr>
              <a:t>Open DevTools → Network (F12)</a:t>
            </a:r>
            <a:endParaRPr lang="en-US" sz="1400" dirty="0"/>
          </a:p>
        </p:txBody>
      </p:sp>
      <p:sp>
        <p:nvSpPr>
          <p:cNvPr id="5" name="Demo number 2"/>
          <p:cNvSpPr txBox="1"/>
          <p:nvPr/>
        </p:nvSpPr>
        <p:spPr>
          <a:xfrm>
            <a:off x="457200" y="192024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6" name="Demo step 2"/>
          <p:cNvSpPr txBox="1"/>
          <p:nvPr/>
        </p:nvSpPr>
        <p:spPr>
          <a:xfrm>
            <a:off x="1051560" y="1920240"/>
            <a:ext cx="3931920" cy="411480"/>
          </a:xfrm>
          <a:prstGeom prst="rect">
            <a:avLst/>
          </a:prstGeom>
          <a:noFill/>
          <a:ln/>
        </p:spPr>
        <p:txBody>
          <a:bodyPr wrap="square" lIns="0" tIns="0" rIns="0" bIns="0" rtlCol="0" anchor="ctr"/>
          <a:lstStyle/>
          <a:p>
            <a:pPr marL="0" indent="0">
              <a:buNone/>
            </a:pPr>
            <a:r>
              <a:rPr lang="en-US" sz="1400" dirty="0">
                <a:solidFill>
                  <a:schemeClr val="tx1"/>
                </a:solidFill>
              </a:rPr>
              <a:t>Tick “Disable cache”, hard reload</a:t>
            </a:r>
            <a:endParaRPr lang="en-US" sz="1400" dirty="0"/>
          </a:p>
        </p:txBody>
      </p:sp>
      <p:sp>
        <p:nvSpPr>
          <p:cNvPr id="7" name="Demo number 3"/>
          <p:cNvSpPr txBox="1"/>
          <p:nvPr/>
        </p:nvSpPr>
        <p:spPr>
          <a:xfrm>
            <a:off x="457200" y="256032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8" name="Demo step 3"/>
          <p:cNvSpPr txBox="1"/>
          <p:nvPr/>
        </p:nvSpPr>
        <p:spPr>
          <a:xfrm>
            <a:off x="1051560" y="2560320"/>
            <a:ext cx="3931920" cy="411480"/>
          </a:xfrm>
          <a:prstGeom prst="rect">
            <a:avLst/>
          </a:prstGeom>
          <a:noFill/>
          <a:ln/>
        </p:spPr>
        <p:txBody>
          <a:bodyPr wrap="square" lIns="0" tIns="0" rIns="0" bIns="0" rtlCol="0" anchor="ctr"/>
          <a:lstStyle/>
          <a:p>
            <a:pPr marL="0" indent="0">
              <a:buNone/>
            </a:pPr>
            <a:r>
              <a:rPr lang="en-US" sz="1400" dirty="0">
                <a:solidFill>
                  <a:schemeClr val="tx1"/>
                </a:solidFill>
              </a:rPr>
              <a:t>Read the waterfall: the document comes first</a:t>
            </a:r>
            <a:endParaRPr lang="en-US" sz="1400" dirty="0"/>
          </a:p>
        </p:txBody>
      </p:sp>
      <p:sp>
        <p:nvSpPr>
          <p:cNvPr id="9" name="Demo number 4"/>
          <p:cNvSpPr txBox="1"/>
          <p:nvPr/>
        </p:nvSpPr>
        <p:spPr>
          <a:xfrm>
            <a:off x="457200" y="320040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0" name="Demo step 4"/>
          <p:cNvSpPr txBox="1"/>
          <p:nvPr/>
        </p:nvSpPr>
        <p:spPr>
          <a:xfrm>
            <a:off x="1051560" y="3200400"/>
            <a:ext cx="3931920" cy="411480"/>
          </a:xfrm>
          <a:prstGeom prst="rect">
            <a:avLst/>
          </a:prstGeom>
          <a:noFill/>
          <a:ln/>
        </p:spPr>
        <p:txBody>
          <a:bodyPr wrap="square" lIns="0" tIns="0" rIns="0" bIns="0" rtlCol="0" anchor="ctr"/>
          <a:lstStyle/>
          <a:p>
            <a:pPr marL="0" indent="0">
              <a:buNone/>
            </a:pPr>
            <a:r>
              <a:rPr lang="en-US" sz="1400" dirty="0">
                <a:solidFill>
                  <a:schemeClr val="tx1"/>
                </a:solidFill>
              </a:rPr>
              <a:t>Click a request → Headers and Timing</a:t>
            </a:r>
            <a:endParaRPr lang="en-US" sz="1400" dirty="0"/>
          </a:p>
        </p:txBody>
      </p:sp>
      <p:sp>
        <p:nvSpPr>
          <p:cNvPr id="11" name="Demo number 5"/>
          <p:cNvSpPr txBox="1"/>
          <p:nvPr/>
        </p:nvSpPr>
        <p:spPr>
          <a:xfrm>
            <a:off x="457200" y="3840480"/>
            <a:ext cx="411480" cy="4114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2" name="Demo step 5"/>
          <p:cNvSpPr txBox="1"/>
          <p:nvPr/>
        </p:nvSpPr>
        <p:spPr>
          <a:xfrm>
            <a:off x="1051560" y="3840480"/>
            <a:ext cx="3931920" cy="411480"/>
          </a:xfrm>
          <a:prstGeom prst="rect">
            <a:avLst/>
          </a:prstGeom>
          <a:noFill/>
          <a:ln/>
        </p:spPr>
        <p:txBody>
          <a:bodyPr wrap="square" lIns="0" tIns="0" rIns="0" bIns="0" rtlCol="0" anchor="ctr"/>
          <a:lstStyle/>
          <a:p>
            <a:pPr marL="0" indent="0">
              <a:buNone/>
            </a:pPr>
            <a:r>
              <a:rPr lang="en-US" sz="1400" dirty="0">
                <a:solidFill>
                  <a:schemeClr val="tx1"/>
                </a:solidFill>
              </a:rPr>
              <a:t>Untick it, reload, compare the Size column</a:t>
            </a:r>
            <a:endParaRPr lang="en-US" sz="1400" dirty="0"/>
          </a:p>
        </p:txBody>
      </p:sp>
      <p:sp>
        <p:nvSpPr>
          <p:cNvPr id="13" name="Look for label"/>
          <p:cNvSpPr txBox="1"/>
          <p:nvPr/>
        </p:nvSpPr>
        <p:spPr>
          <a:xfrm>
            <a:off x="5303520" y="1280160"/>
            <a:ext cx="3383280" cy="274320"/>
          </a:xfrm>
          <a:prstGeom prst="rect">
            <a:avLst/>
          </a:prstGeom>
          <a:noFill/>
          <a:ln/>
        </p:spPr>
        <p:txBody>
          <a:bodyPr wrap="square" lIns="0" tIns="0" rIns="0" bIns="0" rtlCol="0" anchor="ctr"/>
          <a:lstStyle/>
          <a:p>
            <a:pPr marL="0" indent="0">
              <a:buNone/>
            </a:pPr>
            <a:r>
              <a:rPr lang="en-US" sz="1200" b="1" dirty="0">
                <a:solidFill>
                  <a:schemeClr val="accent1"/>
                </a:solidFill>
              </a:rPr>
              <a:t>LOOK FOR</a:t>
            </a:r>
            <a:endParaRPr lang="en-US" sz="1200" dirty="0"/>
          </a:p>
        </p:txBody>
      </p:sp>
      <p:sp>
        <p:nvSpPr>
          <p:cNvPr id="14" name="Look card 1"/>
          <p:cNvSpPr/>
          <p:nvPr/>
        </p:nvSpPr>
        <p:spPr>
          <a:xfrm>
            <a:off x="5303520" y="1645920"/>
            <a:ext cx="3383280" cy="841248"/>
          </a:xfrm>
          <a:prstGeom prst="roundRect">
            <a:avLst>
              <a:gd name="adj" fmla="val 10870"/>
            </a:avLst>
          </a:prstGeom>
          <a:solidFill>
            <a:schemeClr val="bg2"/>
          </a:solidFill>
          <a:ln/>
        </p:spPr>
        <p:txBody>
          <a:bodyPr/>
          <a:lstStyle/>
          <a:p>
            <a:endParaRPr lang="fr-FR"/>
          </a:p>
        </p:txBody>
      </p:sp>
      <p:sp>
        <p:nvSpPr>
          <p:cNvPr id="15" name="Look text 1"/>
          <p:cNvSpPr txBox="1"/>
          <p:nvPr/>
        </p:nvSpPr>
        <p:spPr>
          <a:xfrm>
            <a:off x="5486400" y="1645920"/>
            <a:ext cx="3063240" cy="841248"/>
          </a:xfrm>
          <a:prstGeom prst="rect">
            <a:avLst/>
          </a:prstGeom>
          <a:noFill/>
          <a:ln/>
        </p:spPr>
        <p:txBody>
          <a:bodyPr wrap="square" lIns="0" tIns="0" rIns="0" bIns="0" rtlCol="0" anchor="ctr"/>
          <a:lstStyle/>
          <a:p>
            <a:pPr marL="0" indent="0">
              <a:buNone/>
            </a:pPr>
            <a:r>
              <a:rPr lang="en-US" sz="1400" b="1" dirty="0">
                <a:solidFill>
                  <a:schemeClr val="accent1"/>
                </a:solidFill>
              </a:rPr>
              <a:t>Order</a:t>
            </a:r>
            <a:endParaRPr lang="en-US" sz="1400" dirty="0"/>
          </a:p>
          <a:p>
            <a:pPr marL="0" indent="0">
              <a:buNone/>
            </a:pPr>
            <a:r>
              <a:rPr lang="en-US" sz="1400" dirty="0">
                <a:solidFill>
                  <a:schemeClr val="tx1"/>
                </a:solidFill>
              </a:rPr>
              <a:t>HTML first, then the CSS and JS it needs.</a:t>
            </a:r>
            <a:endParaRPr lang="en-US" sz="1400" dirty="0"/>
          </a:p>
        </p:txBody>
      </p:sp>
      <p:sp>
        <p:nvSpPr>
          <p:cNvPr id="16" name="Look card 2"/>
          <p:cNvSpPr/>
          <p:nvPr/>
        </p:nvSpPr>
        <p:spPr>
          <a:xfrm>
            <a:off x="5303520" y="2606040"/>
            <a:ext cx="3383280" cy="841248"/>
          </a:xfrm>
          <a:prstGeom prst="roundRect">
            <a:avLst>
              <a:gd name="adj" fmla="val 10870"/>
            </a:avLst>
          </a:prstGeom>
          <a:solidFill>
            <a:schemeClr val="bg2"/>
          </a:solidFill>
          <a:ln/>
        </p:spPr>
        <p:txBody>
          <a:bodyPr/>
          <a:lstStyle/>
          <a:p>
            <a:endParaRPr lang="fr-FR"/>
          </a:p>
        </p:txBody>
      </p:sp>
      <p:sp>
        <p:nvSpPr>
          <p:cNvPr id="17" name="Look text 2"/>
          <p:cNvSpPr txBox="1"/>
          <p:nvPr/>
        </p:nvSpPr>
        <p:spPr>
          <a:xfrm>
            <a:off x="5486400" y="2606040"/>
            <a:ext cx="3063240" cy="841248"/>
          </a:xfrm>
          <a:prstGeom prst="rect">
            <a:avLst/>
          </a:prstGeom>
          <a:noFill/>
          <a:ln/>
        </p:spPr>
        <p:txBody>
          <a:bodyPr wrap="square" lIns="0" tIns="0" rIns="0" bIns="0" rtlCol="0" anchor="ctr"/>
          <a:lstStyle/>
          <a:p>
            <a:pPr marL="0" indent="0">
              <a:buNone/>
            </a:pPr>
            <a:r>
              <a:rPr lang="en-US" sz="1400" b="1" dirty="0">
                <a:solidFill>
                  <a:schemeClr val="accent1"/>
                </a:solidFill>
              </a:rPr>
              <a:t>Origin</a:t>
            </a:r>
            <a:endParaRPr lang="en-US" sz="1400" dirty="0"/>
          </a:p>
          <a:p>
            <a:pPr marL="0" indent="0">
              <a:buNone/>
            </a:pPr>
            <a:r>
              <a:rPr lang="en-US" sz="1400" dirty="0">
                <a:solidFill>
                  <a:schemeClr val="tx1"/>
                </a:solidFill>
              </a:rPr>
              <a:t>Your domain versus third-party hosts.</a:t>
            </a:r>
            <a:endParaRPr lang="en-US" sz="1400" dirty="0"/>
          </a:p>
        </p:txBody>
      </p:sp>
      <p:sp>
        <p:nvSpPr>
          <p:cNvPr id="18" name="Look card 3"/>
          <p:cNvSpPr/>
          <p:nvPr/>
        </p:nvSpPr>
        <p:spPr>
          <a:xfrm>
            <a:off x="5303520" y="3566160"/>
            <a:ext cx="3383280" cy="841248"/>
          </a:xfrm>
          <a:prstGeom prst="roundRect">
            <a:avLst>
              <a:gd name="adj" fmla="val 10870"/>
            </a:avLst>
          </a:prstGeom>
          <a:solidFill>
            <a:schemeClr val="bg2"/>
          </a:solidFill>
          <a:ln/>
        </p:spPr>
        <p:txBody>
          <a:bodyPr/>
          <a:lstStyle/>
          <a:p>
            <a:endParaRPr lang="fr-FR"/>
          </a:p>
        </p:txBody>
      </p:sp>
      <p:sp>
        <p:nvSpPr>
          <p:cNvPr id="19" name="Look text 3"/>
          <p:cNvSpPr txBox="1"/>
          <p:nvPr/>
        </p:nvSpPr>
        <p:spPr>
          <a:xfrm>
            <a:off x="5486400" y="3566160"/>
            <a:ext cx="3063240" cy="841248"/>
          </a:xfrm>
          <a:prstGeom prst="rect">
            <a:avLst/>
          </a:prstGeom>
          <a:noFill/>
          <a:ln/>
        </p:spPr>
        <p:txBody>
          <a:bodyPr wrap="square" lIns="0" tIns="0" rIns="0" bIns="0" rtlCol="0" anchor="ctr"/>
          <a:lstStyle/>
          <a:p>
            <a:pPr marL="0" indent="0">
              <a:buNone/>
            </a:pPr>
            <a:r>
              <a:rPr lang="en-US" sz="1400" b="1" dirty="0">
                <a:solidFill>
                  <a:schemeClr val="accent1"/>
                </a:solidFill>
              </a:rPr>
              <a:t>Size</a:t>
            </a:r>
            <a:endParaRPr lang="en-US" sz="1400" dirty="0"/>
          </a:p>
          <a:p>
            <a:pPr marL="0" indent="0">
              <a:buNone/>
            </a:pPr>
            <a:r>
              <a:rPr lang="en-US" sz="1400" dirty="0">
                <a:solidFill>
                  <a:schemeClr val="tx1"/>
                </a:solidFill>
              </a:rPr>
              <a:t>“disk cache” or 304: nothing re-downloaded.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bg1"/>
                </a:solidFill>
              </a:rPr>
              <a:t>Why the second load is faster</a:t>
            </a:r>
            <a:endParaRPr lang="en-US" sz="3400" dirty="0"/>
          </a:p>
        </p:txBody>
      </p:sp>
      <p:sp>
        <p:nvSpPr>
          <p:cNvPr id="3" name="Tile 1"/>
          <p:cNvSpPr/>
          <p:nvPr/>
        </p:nvSpPr>
        <p:spPr>
          <a:xfrm>
            <a:off x="457200" y="1280160"/>
            <a:ext cx="1920240" cy="2286000"/>
          </a:xfrm>
          <a:prstGeom prst="roundRect">
            <a:avLst>
              <a:gd name="adj" fmla="val 4762"/>
            </a:avLst>
          </a:prstGeom>
          <a:solidFill>
            <a:schemeClr val="bg1">
              <a:alpha val="10000"/>
            </a:schemeClr>
          </a:solidFill>
          <a:ln/>
        </p:spPr>
        <p:txBody>
          <a:bodyPr/>
          <a:lstStyle/>
          <a:p>
            <a:endParaRPr lang="fr-FR"/>
          </a:p>
        </p:txBody>
      </p:sp>
      <p:sp>
        <p:nvSpPr>
          <p:cNvPr id="4" name="Tile label 1"/>
          <p:cNvSpPr txBox="1"/>
          <p:nvPr/>
        </p:nvSpPr>
        <p:spPr>
          <a:xfrm>
            <a:off x="640080" y="1417320"/>
            <a:ext cx="1554480" cy="274320"/>
          </a:xfrm>
          <a:prstGeom prst="rect">
            <a:avLst/>
          </a:prstGeom>
          <a:noFill/>
          <a:ln/>
        </p:spPr>
        <p:txBody>
          <a:bodyPr wrap="square" lIns="0" tIns="0" rIns="0" bIns="0" rtlCol="0" anchor="ctr"/>
          <a:lstStyle/>
          <a:p>
            <a:pPr marL="0" indent="0">
              <a:buNone/>
            </a:pPr>
            <a:r>
              <a:rPr lang="en-US" sz="1200" b="1" dirty="0">
                <a:solidFill>
                  <a:schemeClr val="accent6"/>
                </a:solidFill>
              </a:rPr>
              <a:t>DNS</a:t>
            </a:r>
            <a:endParaRPr lang="en-US" sz="1200" dirty="0"/>
          </a:p>
        </p:txBody>
      </p:sp>
      <p:sp>
        <p:nvSpPr>
          <p:cNvPr id="5" name="Tile big 1"/>
          <p:cNvSpPr txBox="1"/>
          <p:nvPr/>
        </p:nvSpPr>
        <p:spPr>
          <a:xfrm>
            <a:off x="640080" y="1783080"/>
            <a:ext cx="1554480" cy="640080"/>
          </a:xfrm>
          <a:prstGeom prst="rect">
            <a:avLst/>
          </a:prstGeom>
          <a:noFill/>
          <a:ln/>
        </p:spPr>
        <p:txBody>
          <a:bodyPr wrap="square" lIns="0" tIns="0" rIns="0" bIns="0" rtlCol="0" anchor="ctr"/>
          <a:lstStyle/>
          <a:p>
            <a:pPr marL="0" indent="0">
              <a:buNone/>
            </a:pPr>
            <a:r>
              <a:rPr lang="en-US" sz="2800" b="1" dirty="0">
                <a:solidFill>
                  <a:schemeClr val="accent2"/>
                </a:solidFill>
              </a:rPr>
              <a:t>Cached</a:t>
            </a:r>
            <a:endParaRPr lang="en-US" sz="2800" dirty="0"/>
          </a:p>
        </p:txBody>
      </p:sp>
      <p:sp>
        <p:nvSpPr>
          <p:cNvPr id="6" name="Tile text 1"/>
          <p:cNvSpPr txBox="1"/>
          <p:nvPr/>
        </p:nvSpPr>
        <p:spPr>
          <a:xfrm>
            <a:off x="640080" y="2514600"/>
            <a:ext cx="1554480" cy="914400"/>
          </a:xfrm>
          <a:prstGeom prst="rect">
            <a:avLst/>
          </a:prstGeom>
          <a:noFill/>
          <a:ln/>
        </p:spPr>
        <p:txBody>
          <a:bodyPr wrap="square" lIns="0" tIns="0" rIns="0" bIns="0" rtlCol="0" anchor="t"/>
          <a:lstStyle/>
          <a:p>
            <a:pPr marL="0" indent="0">
              <a:buNone/>
            </a:pPr>
            <a:r>
              <a:rPr lang="en-US" sz="1400" dirty="0">
                <a:solidFill>
                  <a:schemeClr val="bg1"/>
                </a:solidFill>
              </a:rPr>
              <a:t>Answer stored for its TTL. No lookup.</a:t>
            </a:r>
            <a:endParaRPr lang="en-US" sz="1400" dirty="0"/>
          </a:p>
        </p:txBody>
      </p:sp>
      <p:sp>
        <p:nvSpPr>
          <p:cNvPr id="7" name="Tile 2"/>
          <p:cNvSpPr/>
          <p:nvPr/>
        </p:nvSpPr>
        <p:spPr>
          <a:xfrm>
            <a:off x="2560320" y="1280160"/>
            <a:ext cx="1920240" cy="2286000"/>
          </a:xfrm>
          <a:prstGeom prst="roundRect">
            <a:avLst>
              <a:gd name="adj" fmla="val 4762"/>
            </a:avLst>
          </a:prstGeom>
          <a:solidFill>
            <a:schemeClr val="bg1">
              <a:alpha val="10000"/>
            </a:schemeClr>
          </a:solidFill>
          <a:ln/>
        </p:spPr>
        <p:txBody>
          <a:bodyPr/>
          <a:lstStyle/>
          <a:p>
            <a:endParaRPr lang="fr-FR"/>
          </a:p>
        </p:txBody>
      </p:sp>
      <p:sp>
        <p:nvSpPr>
          <p:cNvPr id="8" name="Tile label 2"/>
          <p:cNvSpPr txBox="1"/>
          <p:nvPr/>
        </p:nvSpPr>
        <p:spPr>
          <a:xfrm>
            <a:off x="2743200" y="1417320"/>
            <a:ext cx="1554480" cy="274320"/>
          </a:xfrm>
          <a:prstGeom prst="rect">
            <a:avLst/>
          </a:prstGeom>
          <a:noFill/>
          <a:ln/>
        </p:spPr>
        <p:txBody>
          <a:bodyPr wrap="square" lIns="0" tIns="0" rIns="0" bIns="0" rtlCol="0" anchor="ctr"/>
          <a:lstStyle/>
          <a:p>
            <a:pPr marL="0" indent="0">
              <a:buNone/>
            </a:pPr>
            <a:r>
              <a:rPr lang="en-US" sz="1200" b="1" dirty="0">
                <a:solidFill>
                  <a:schemeClr val="accent6"/>
                </a:solidFill>
              </a:rPr>
              <a:t>TCP + TLS</a:t>
            </a:r>
            <a:endParaRPr lang="en-US" sz="1200" dirty="0"/>
          </a:p>
        </p:txBody>
      </p:sp>
      <p:sp>
        <p:nvSpPr>
          <p:cNvPr id="9" name="Tile big 2"/>
          <p:cNvSpPr txBox="1"/>
          <p:nvPr/>
        </p:nvSpPr>
        <p:spPr>
          <a:xfrm>
            <a:off x="2743200" y="1783080"/>
            <a:ext cx="1554480" cy="640080"/>
          </a:xfrm>
          <a:prstGeom prst="rect">
            <a:avLst/>
          </a:prstGeom>
          <a:noFill/>
          <a:ln/>
        </p:spPr>
        <p:txBody>
          <a:bodyPr wrap="square" lIns="0" tIns="0" rIns="0" bIns="0" rtlCol="0" anchor="ctr"/>
          <a:lstStyle/>
          <a:p>
            <a:pPr marL="0" indent="0">
              <a:buNone/>
            </a:pPr>
            <a:r>
              <a:rPr lang="en-US" sz="2800" b="1" dirty="0">
                <a:solidFill>
                  <a:schemeClr val="accent2"/>
                </a:solidFill>
              </a:rPr>
              <a:t>Reused</a:t>
            </a:r>
            <a:endParaRPr lang="en-US" sz="2800" dirty="0"/>
          </a:p>
        </p:txBody>
      </p:sp>
      <p:sp>
        <p:nvSpPr>
          <p:cNvPr id="10" name="Tile text 2"/>
          <p:cNvSpPr txBox="1"/>
          <p:nvPr/>
        </p:nvSpPr>
        <p:spPr>
          <a:xfrm>
            <a:off x="2743200" y="2514600"/>
            <a:ext cx="1554480" cy="914400"/>
          </a:xfrm>
          <a:prstGeom prst="rect">
            <a:avLst/>
          </a:prstGeom>
          <a:noFill/>
          <a:ln/>
        </p:spPr>
        <p:txBody>
          <a:bodyPr wrap="square" lIns="0" tIns="0" rIns="0" bIns="0" rtlCol="0" anchor="t"/>
          <a:lstStyle/>
          <a:p>
            <a:pPr marL="0" indent="0">
              <a:buNone/>
            </a:pPr>
            <a:r>
              <a:rPr lang="en-US" sz="1400" dirty="0">
                <a:solidFill>
                  <a:schemeClr val="bg1"/>
                </a:solidFill>
              </a:rPr>
              <a:t>Open connection or resumed session.</a:t>
            </a:r>
            <a:endParaRPr lang="en-US" sz="1400" dirty="0"/>
          </a:p>
        </p:txBody>
      </p:sp>
      <p:sp>
        <p:nvSpPr>
          <p:cNvPr id="11" name="Tile 3"/>
          <p:cNvSpPr/>
          <p:nvPr/>
        </p:nvSpPr>
        <p:spPr>
          <a:xfrm>
            <a:off x="4663440" y="1280160"/>
            <a:ext cx="1920240" cy="2286000"/>
          </a:xfrm>
          <a:prstGeom prst="roundRect">
            <a:avLst>
              <a:gd name="adj" fmla="val 4762"/>
            </a:avLst>
          </a:prstGeom>
          <a:solidFill>
            <a:schemeClr val="bg1">
              <a:alpha val="10000"/>
            </a:schemeClr>
          </a:solidFill>
          <a:ln/>
        </p:spPr>
        <p:txBody>
          <a:bodyPr/>
          <a:lstStyle/>
          <a:p>
            <a:endParaRPr lang="fr-FR"/>
          </a:p>
        </p:txBody>
      </p:sp>
      <p:sp>
        <p:nvSpPr>
          <p:cNvPr id="12" name="Tile label 3"/>
          <p:cNvSpPr txBox="1"/>
          <p:nvPr/>
        </p:nvSpPr>
        <p:spPr>
          <a:xfrm>
            <a:off x="4846320" y="1417320"/>
            <a:ext cx="1554480" cy="274320"/>
          </a:xfrm>
          <a:prstGeom prst="rect">
            <a:avLst/>
          </a:prstGeom>
          <a:noFill/>
          <a:ln/>
        </p:spPr>
        <p:txBody>
          <a:bodyPr wrap="square" lIns="0" tIns="0" rIns="0" bIns="0" rtlCol="0" anchor="ctr"/>
          <a:lstStyle/>
          <a:p>
            <a:pPr marL="0" indent="0">
              <a:buNone/>
            </a:pPr>
            <a:r>
              <a:rPr lang="en-US" sz="1200" b="1" dirty="0">
                <a:solidFill>
                  <a:schemeClr val="accent6"/>
                </a:solidFill>
              </a:rPr>
              <a:t>STATIC FILES</a:t>
            </a:r>
            <a:endParaRPr lang="en-US" sz="1200" dirty="0"/>
          </a:p>
        </p:txBody>
      </p:sp>
      <p:sp>
        <p:nvSpPr>
          <p:cNvPr id="13" name="Tile big 3"/>
          <p:cNvSpPr txBox="1"/>
          <p:nvPr/>
        </p:nvSpPr>
        <p:spPr>
          <a:xfrm>
            <a:off x="4846320" y="1783080"/>
            <a:ext cx="1554480" cy="640080"/>
          </a:xfrm>
          <a:prstGeom prst="rect">
            <a:avLst/>
          </a:prstGeom>
          <a:noFill/>
          <a:ln/>
        </p:spPr>
        <p:txBody>
          <a:bodyPr wrap="square" lIns="0" tIns="0" rIns="0" bIns="0" rtlCol="0" anchor="ctr"/>
          <a:lstStyle/>
          <a:p>
            <a:pPr marL="0" indent="0">
              <a:buNone/>
            </a:pPr>
            <a:r>
              <a:rPr lang="en-US" sz="2800" b="1" dirty="0">
                <a:solidFill>
                  <a:schemeClr val="accent2"/>
                </a:solidFill>
              </a:rPr>
              <a:t>0 bytes</a:t>
            </a:r>
            <a:endParaRPr lang="en-US" sz="2800" dirty="0"/>
          </a:p>
        </p:txBody>
      </p:sp>
      <p:sp>
        <p:nvSpPr>
          <p:cNvPr id="14" name="Tile text 3"/>
          <p:cNvSpPr txBox="1"/>
          <p:nvPr/>
        </p:nvSpPr>
        <p:spPr>
          <a:xfrm>
            <a:off x="4846320" y="2514600"/>
            <a:ext cx="1554480" cy="914400"/>
          </a:xfrm>
          <a:prstGeom prst="rect">
            <a:avLst/>
          </a:prstGeom>
          <a:noFill/>
          <a:ln/>
        </p:spPr>
        <p:txBody>
          <a:bodyPr wrap="square" lIns="0" tIns="0" rIns="0" bIns="0" rtlCol="0" anchor="t"/>
          <a:lstStyle/>
          <a:p>
            <a:pPr marL="0" indent="0">
              <a:buNone/>
            </a:pPr>
            <a:r>
              <a:rPr lang="en-US" sz="1400" dirty="0">
                <a:solidFill>
                  <a:schemeClr val="bg1"/>
                </a:solidFill>
              </a:rPr>
              <a:t>Served from the disk cache.</a:t>
            </a:r>
            <a:endParaRPr lang="en-US" sz="1400" dirty="0"/>
          </a:p>
        </p:txBody>
      </p:sp>
      <p:sp>
        <p:nvSpPr>
          <p:cNvPr id="15" name="Tile 4"/>
          <p:cNvSpPr/>
          <p:nvPr/>
        </p:nvSpPr>
        <p:spPr>
          <a:xfrm>
            <a:off x="6766560" y="1280160"/>
            <a:ext cx="1920240" cy="2286000"/>
          </a:xfrm>
          <a:prstGeom prst="roundRect">
            <a:avLst>
              <a:gd name="adj" fmla="val 4762"/>
            </a:avLst>
          </a:prstGeom>
          <a:solidFill>
            <a:schemeClr val="bg1">
              <a:alpha val="10000"/>
            </a:schemeClr>
          </a:solidFill>
          <a:ln/>
        </p:spPr>
        <p:txBody>
          <a:bodyPr/>
          <a:lstStyle/>
          <a:p>
            <a:endParaRPr lang="fr-FR"/>
          </a:p>
        </p:txBody>
      </p:sp>
      <p:sp>
        <p:nvSpPr>
          <p:cNvPr id="16" name="Tile label 4"/>
          <p:cNvSpPr txBox="1"/>
          <p:nvPr/>
        </p:nvSpPr>
        <p:spPr>
          <a:xfrm>
            <a:off x="6949440" y="1417320"/>
            <a:ext cx="1554480" cy="274320"/>
          </a:xfrm>
          <a:prstGeom prst="rect">
            <a:avLst/>
          </a:prstGeom>
          <a:noFill/>
          <a:ln/>
        </p:spPr>
        <p:txBody>
          <a:bodyPr wrap="square" lIns="0" tIns="0" rIns="0" bIns="0" rtlCol="0" anchor="ctr"/>
          <a:lstStyle/>
          <a:p>
            <a:pPr marL="0" indent="0">
              <a:buNone/>
            </a:pPr>
            <a:r>
              <a:rPr lang="en-US" sz="1200" b="1" dirty="0">
                <a:solidFill>
                  <a:schemeClr val="accent6"/>
                </a:solidFill>
              </a:rPr>
              <a:t>HTML</a:t>
            </a:r>
            <a:endParaRPr lang="en-US" sz="1200" dirty="0"/>
          </a:p>
        </p:txBody>
      </p:sp>
      <p:sp>
        <p:nvSpPr>
          <p:cNvPr id="17" name="Tile big 4"/>
          <p:cNvSpPr txBox="1"/>
          <p:nvPr/>
        </p:nvSpPr>
        <p:spPr>
          <a:xfrm>
            <a:off x="6949440" y="1783080"/>
            <a:ext cx="1554480" cy="640080"/>
          </a:xfrm>
          <a:prstGeom prst="rect">
            <a:avLst/>
          </a:prstGeom>
          <a:noFill/>
          <a:ln/>
        </p:spPr>
        <p:txBody>
          <a:bodyPr wrap="square" lIns="0" tIns="0" rIns="0" bIns="0" rtlCol="0" anchor="ctr"/>
          <a:lstStyle/>
          <a:p>
            <a:pPr marL="0" indent="0">
              <a:buNone/>
            </a:pPr>
            <a:r>
              <a:rPr lang="en-US" sz="2800" b="1" dirty="0">
                <a:solidFill>
                  <a:schemeClr val="accent2"/>
                </a:solidFill>
              </a:rPr>
              <a:t>304</a:t>
            </a:r>
            <a:endParaRPr lang="en-US" sz="2800" dirty="0"/>
          </a:p>
        </p:txBody>
      </p:sp>
      <p:sp>
        <p:nvSpPr>
          <p:cNvPr id="18" name="Tile text 4"/>
          <p:cNvSpPr txBox="1"/>
          <p:nvPr/>
        </p:nvSpPr>
        <p:spPr>
          <a:xfrm>
            <a:off x="6949440" y="2514600"/>
            <a:ext cx="1554480" cy="914400"/>
          </a:xfrm>
          <a:prstGeom prst="rect">
            <a:avLst/>
          </a:prstGeom>
          <a:noFill/>
          <a:ln/>
        </p:spPr>
        <p:txBody>
          <a:bodyPr wrap="square" lIns="0" tIns="0" rIns="0" bIns="0" rtlCol="0" anchor="t"/>
          <a:lstStyle/>
          <a:p>
            <a:pPr marL="0" indent="0">
              <a:buNone/>
            </a:pPr>
            <a:r>
              <a:rPr lang="en-US" sz="1400" dirty="0">
                <a:solidFill>
                  <a:schemeClr val="bg1"/>
                </a:solidFill>
              </a:rPr>
              <a:t>Revalidated by ETag. No body re-sent.</a:t>
            </a:r>
            <a:endParaRPr lang="en-US" sz="1400" dirty="0"/>
          </a:p>
        </p:txBody>
      </p:sp>
      <p:sp>
        <p:nvSpPr>
          <p:cNvPr id="19" name="Conclusion"/>
          <p:cNvSpPr txBox="1"/>
          <p:nvPr/>
        </p:nvSpPr>
        <p:spPr>
          <a:xfrm>
            <a:off x="457200" y="3794760"/>
            <a:ext cx="8229600" cy="640080"/>
          </a:xfrm>
          <a:prstGeom prst="rect">
            <a:avLst/>
          </a:prstGeom>
          <a:noFill/>
          <a:ln/>
        </p:spPr>
        <p:txBody>
          <a:bodyPr wrap="square" lIns="0" tIns="0" rIns="0" bIns="0" rtlCol="0" anchor="ctr"/>
          <a:lstStyle/>
          <a:p>
            <a:pPr marL="0" indent="0">
              <a:buNone/>
            </a:pPr>
            <a:r>
              <a:rPr lang="en-US" sz="1800" i="1" dirty="0">
                <a:solidFill>
                  <a:schemeClr val="bg1"/>
                </a:solidFill>
              </a:rPr>
              <a:t>Same site, fewer steps. The fastest request is the one you never make.</a:t>
            </a:r>
            <a:endParaRPr lang="en-US" sz="1800" dirty="0"/>
          </a:p>
        </p:txBody>
      </p:sp>
      <p:sp>
        <p:nvSpPr>
          <p:cNvPr id="20" name="Check"/>
          <p:cNvSpPr txBox="1"/>
          <p:nvPr/>
        </p:nvSpPr>
        <p:spPr>
          <a:xfrm>
            <a:off x="457200" y="4480560"/>
            <a:ext cx="7498080" cy="274320"/>
          </a:xfrm>
          <a:prstGeom prst="rect">
            <a:avLst/>
          </a:prstGeom>
          <a:noFill/>
          <a:ln/>
        </p:spPr>
        <p:txBody>
          <a:bodyPr wrap="square" lIns="0" tIns="0" rIns="0" bIns="0" rtlCol="0" anchor="ctr"/>
          <a:lstStyle/>
          <a:p>
            <a:pPr marL="0" indent="0">
              <a:buNone/>
            </a:pPr>
            <a:r>
              <a:rPr lang="en-US" sz="1200" dirty="0">
                <a:solidFill>
                  <a:schemeClr val="accent6"/>
                </a:solidFill>
              </a:rPr>
              <a:t>You have understood it when you can explain this slide without looking at it.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3B1C2"/>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URL Journey">
  <a:themeElements>
    <a:clrScheme name="URL Journey">
      <a:dk1>
        <a:srgbClr val="101828"/>
      </a:dk1>
      <a:lt1>
        <a:srgbClr val="FFFFFF"/>
      </a:lt1>
      <a:dk2>
        <a:srgbClr val="0E7C86"/>
      </a:dk2>
      <a:lt2>
        <a:srgbClr val="EEF2F6"/>
      </a:lt2>
      <a:accent1>
        <a:srgbClr val="0E7C86"/>
      </a:accent1>
      <a:accent2>
        <a:srgbClr val="F2994A"/>
      </a:accent2>
      <a:accent3>
        <a:srgbClr val="475569"/>
      </a:accent3>
      <a:accent4>
        <a:srgbClr val="22A06B"/>
      </a:accent4>
      <a:accent5>
        <a:srgbClr val="D64545"/>
      </a:accent5>
      <a:accent6>
        <a:srgbClr val="A3B1C2"/>
      </a:accent6>
      <a:hlink>
        <a:srgbClr val="0E7C86"/>
      </a:hlink>
      <a:folHlink>
        <a:srgbClr val="475569"/>
      </a:folHlink>
    </a:clrScheme>
    <a:fontScheme name="URL Journe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1162</Words>
  <Application>Microsoft Office PowerPoint</Application>
  <PresentationFormat>Affichage à l'écran (16:9)</PresentationFormat>
  <Paragraphs>138</Paragraphs>
  <Slides>8</Slides>
  <Notes>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Calibri</vt:lpstr>
      <vt:lpstr>Courier New</vt:lpstr>
      <vt:lpstr>URL Journey</vt:lpstr>
      <vt:lpstr>What actually happens between typing a URL and seeing a page?</vt:lpstr>
      <vt:lpstr>From keystroke to pixels</vt:lpstr>
      <vt:lpstr>DNS: names become addresses</vt:lpstr>
      <vt:lpstr>One request, one response</vt:lpstr>
      <vt:lpstr>Where is the page built?</vt:lpstr>
      <vt:lpstr>Where a CDN like Vercel fits</vt:lpstr>
      <vt:lpstr>Live demo: the Network tab</vt:lpstr>
      <vt:lpstr>Why the second load is faster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actually happens between typing a URL and seeing a page?</dc:title>
  <dc:subject>PptxGenJS Presentation</dc:subject>
  <dc:creator>Team 1</dc:creator>
  <cp:lastModifiedBy>ferol.tatangfomekon</cp:lastModifiedBy>
  <cp:revision>2</cp:revision>
  <dcterms:created xsi:type="dcterms:W3CDTF">2026-10-08T08:25:49Z</dcterms:created>
  <dcterms:modified xsi:type="dcterms:W3CDTF">2026-10-08T10:17:55Z</dcterms:modified>
</cp:coreProperties>
</file>